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8" r:id="rId12"/>
    <p:sldId id="263" r:id="rId13"/>
    <p:sldId id="264" r:id="rId14"/>
    <p:sldId id="265" r:id="rId15"/>
    <p:sldId id="269" r:id="rId16"/>
    <p:sldId id="270" r:id="rId17"/>
    <p:sldId id="271" r:id="rId18"/>
    <p:sldId id="266" r:id="rId19"/>
    <p:sldId id="272" r:id="rId20"/>
    <p:sldId id="267" r:id="rId21"/>
    <p:sldId id="273" r:id="rId22"/>
    <p:sldId id="27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guel A Espinosa" userId="8a4b5d39dc8aeb09" providerId="LiveId" clId="{9A2C326F-1108-4E1C-8FEB-296220DF1EE7}"/>
    <pc:docChg chg="custSel modSld">
      <pc:chgData name="Miguel A Espinosa" userId="8a4b5d39dc8aeb09" providerId="LiveId" clId="{9A2C326F-1108-4E1C-8FEB-296220DF1EE7}" dt="2026-10-26T21:07:25.779" v="1" actId="27636"/>
      <pc:docMkLst>
        <pc:docMk/>
      </pc:docMkLst>
      <pc:sldChg chg="modSp mod">
        <pc:chgData name="Miguel A Espinosa" userId="8a4b5d39dc8aeb09" providerId="LiveId" clId="{9A2C326F-1108-4E1C-8FEB-296220DF1EE7}" dt="2026-10-26T21:07:25.779" v="1" actId="27636"/>
        <pc:sldMkLst>
          <pc:docMk/>
          <pc:sldMk cId="2333399779" sldId="256"/>
        </pc:sldMkLst>
        <pc:spChg chg="mod">
          <ac:chgData name="Miguel A Espinosa" userId="8a4b5d39dc8aeb09" providerId="LiveId" clId="{9A2C326F-1108-4E1C-8FEB-296220DF1EE7}" dt="2026-10-26T21:07:25.779" v="1" actId="27636"/>
          <ac:spMkLst>
            <pc:docMk/>
            <pc:sldMk cId="2333399779" sldId="256"/>
            <ac:spMk id="3" creationId="{ACDFB65D-9874-710B-FF6C-A5AC35BF909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1#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906BE9-029B-48DF-889C-54656C8AF8EE}" type="doc">
      <dgm:prSet loTypeId="urn:microsoft.com/office/officeart/2005/8/layout/matrix2" loCatId="matrix" qsTypeId="urn:microsoft.com/office/officeart/2005/8/quickstyle/simple1#1" qsCatId="simple" csTypeId="urn:microsoft.com/office/officeart/2005/8/colors/accent5_1#1" csCatId="accent5" phldr="1"/>
      <dgm:spPr/>
      <dgm:t>
        <a:bodyPr/>
        <a:lstStyle/>
        <a:p>
          <a:endParaRPr lang="en-US"/>
        </a:p>
      </dgm:t>
    </dgm:pt>
    <dgm:pt modelId="{F083E63D-8C92-4494-BC20-E5DF384D47B5}">
      <dgm:prSet/>
      <dgm:spPr/>
      <dgm:t>
        <a:bodyPr/>
        <a:lstStyle/>
        <a:p>
          <a:r>
            <a:rPr lang="es-ES" b="1" baseline="0" dirty="0"/>
            <a:t>¿Qué es técnicamente?</a:t>
          </a:r>
          <a:r>
            <a:rPr lang="es-ES" baseline="0" dirty="0"/>
            <a:t> Es el fallo en proteger la confidencialidad e integridad de los datos en tránsito y en reposo mediante el uso incorrecto, ausente o debilitado de algoritmos y protocolos criptográficos.</a:t>
          </a:r>
          <a:endParaRPr lang="en-US" dirty="0"/>
        </a:p>
      </dgm:t>
    </dgm:pt>
    <dgm:pt modelId="{835B7A73-4211-4E8B-ACF6-F307AA5E340B}" type="parTrans" cxnId="{98E6C2B3-9B62-4B3A-A41A-B7EAD2A1586D}">
      <dgm:prSet/>
      <dgm:spPr/>
      <dgm:t>
        <a:bodyPr/>
        <a:lstStyle/>
        <a:p>
          <a:endParaRPr lang="en-US"/>
        </a:p>
      </dgm:t>
    </dgm:pt>
    <dgm:pt modelId="{D49F1A8F-5812-4EBD-8C46-B1C3D4C272D1}" type="sibTrans" cxnId="{98E6C2B3-9B62-4B3A-A41A-B7EAD2A1586D}">
      <dgm:prSet/>
      <dgm:spPr/>
      <dgm:t>
        <a:bodyPr/>
        <a:lstStyle/>
        <a:p>
          <a:endParaRPr lang="en-US"/>
        </a:p>
      </dgm:t>
    </dgm:pt>
    <dgm:pt modelId="{C1075291-511E-4D09-8AF6-02AC59919F55}">
      <dgm:prSet/>
      <dgm:spPr/>
      <dgm:t>
        <a:bodyPr/>
        <a:lstStyle/>
        <a:p>
          <a:r>
            <a:rPr lang="es-ES" b="1" baseline="0" dirty="0"/>
            <a:t>¿En qué capa ocurre? </a:t>
          </a:r>
          <a:r>
            <a:rPr lang="es-ES" baseline="0" dirty="0"/>
            <a:t>Principalmente en la capa de aplicación (lógica de cifrado) y capa de presentación/red (TLS/SSL). También afecta la base de datos (almacenamiento de secretos).</a:t>
          </a:r>
          <a:endParaRPr lang="en-US" dirty="0"/>
        </a:p>
      </dgm:t>
    </dgm:pt>
    <dgm:pt modelId="{FBE1DD4A-0786-465A-96D8-B22DD8AF1EE8}" type="parTrans" cxnId="{5CC575A9-A7C6-4562-83B7-3BEFD94BB9A0}">
      <dgm:prSet/>
      <dgm:spPr/>
      <dgm:t>
        <a:bodyPr/>
        <a:lstStyle/>
        <a:p>
          <a:endParaRPr lang="en-US"/>
        </a:p>
      </dgm:t>
    </dgm:pt>
    <dgm:pt modelId="{D9A2FC48-851A-463C-AEAC-631A4645FB64}" type="sibTrans" cxnId="{5CC575A9-A7C6-4562-83B7-3BEFD94BB9A0}">
      <dgm:prSet/>
      <dgm:spPr/>
      <dgm:t>
        <a:bodyPr/>
        <a:lstStyle/>
        <a:p>
          <a:endParaRPr lang="en-US"/>
        </a:p>
      </dgm:t>
    </dgm:pt>
    <dgm:pt modelId="{50797C17-DCD2-4510-B1D9-41DBA736F202}">
      <dgm:prSet/>
      <dgm:spPr/>
      <dgm:t>
        <a:bodyPr/>
        <a:lstStyle/>
        <a:p>
          <a:r>
            <a:rPr lang="es-ES" b="1" baseline="0" dirty="0"/>
            <a:t>Error de diseño/configuración: </a:t>
          </a:r>
          <a:r>
            <a:rPr lang="es-ES" baseline="0" dirty="0"/>
            <a:t>Uso de funciones hash inseguras (MD5/SHA1), falta de "</a:t>
          </a:r>
          <a:r>
            <a:rPr lang="es-ES" baseline="0" dirty="0" err="1"/>
            <a:t>salting</a:t>
          </a:r>
          <a:r>
            <a:rPr lang="es-ES" baseline="0" dirty="0"/>
            <a:t>", protocolos de transporte obsoletos (TLS 1.0) o gestión deficiente de llaves (</a:t>
          </a:r>
          <a:r>
            <a:rPr lang="es-ES" baseline="0" dirty="0" err="1"/>
            <a:t>hardcoded</a:t>
          </a:r>
          <a:r>
            <a:rPr lang="es-ES" baseline="0" dirty="0"/>
            <a:t> </a:t>
          </a:r>
          <a:r>
            <a:rPr lang="es-ES" baseline="0" dirty="0" err="1"/>
            <a:t>keys</a:t>
          </a:r>
          <a:r>
            <a:rPr lang="es-ES" baseline="0" dirty="0"/>
            <a:t>).</a:t>
          </a:r>
          <a:endParaRPr lang="en-US" dirty="0"/>
        </a:p>
      </dgm:t>
    </dgm:pt>
    <dgm:pt modelId="{A57F27AC-6A39-452F-98FC-FCA77016218D}" type="parTrans" cxnId="{E301A2C8-2646-49D7-BCA6-5413F05D0213}">
      <dgm:prSet/>
      <dgm:spPr/>
      <dgm:t>
        <a:bodyPr/>
        <a:lstStyle/>
        <a:p>
          <a:endParaRPr lang="en-US"/>
        </a:p>
      </dgm:t>
    </dgm:pt>
    <dgm:pt modelId="{92DC8AB0-9544-4AC4-B847-8CE6BF1700F4}" type="sibTrans" cxnId="{E301A2C8-2646-49D7-BCA6-5413F05D0213}">
      <dgm:prSet/>
      <dgm:spPr/>
      <dgm:t>
        <a:bodyPr/>
        <a:lstStyle/>
        <a:p>
          <a:endParaRPr lang="en-US"/>
        </a:p>
      </dgm:t>
    </dgm:pt>
    <dgm:pt modelId="{E7F14B8A-7611-4210-A3CB-F97A26C02822}">
      <dgm:prSet/>
      <dgm:spPr/>
      <dgm:t>
        <a:bodyPr/>
        <a:lstStyle/>
        <a:p>
          <a:r>
            <a:rPr lang="es-ES" b="1" baseline="0" dirty="0"/>
            <a:t>Confidencialidad es el principio más afectado. </a:t>
          </a:r>
          <a:r>
            <a:rPr lang="es-ES" baseline="0" dirty="0"/>
            <a:t>Si el cifrado es débil, inexistente o las llaves están expuestas, la información deja de ser secreta. Un atacante puede leer datos sensibles (PII, secretos comerciales, credenciales) en texto plano.</a:t>
          </a:r>
          <a:endParaRPr lang="en-US" dirty="0"/>
        </a:p>
      </dgm:t>
    </dgm:pt>
    <dgm:pt modelId="{2D18CE94-869A-483D-941F-6C8D8E263855}" type="parTrans" cxnId="{A32DAD46-85BF-46B3-9434-593E8A960249}">
      <dgm:prSet/>
      <dgm:spPr/>
      <dgm:t>
        <a:bodyPr/>
        <a:lstStyle/>
        <a:p>
          <a:endParaRPr lang="en-US"/>
        </a:p>
      </dgm:t>
    </dgm:pt>
    <dgm:pt modelId="{0CA5904B-60A2-46CF-8629-42354887217B}" type="sibTrans" cxnId="{A32DAD46-85BF-46B3-9434-593E8A960249}">
      <dgm:prSet/>
      <dgm:spPr/>
      <dgm:t>
        <a:bodyPr/>
        <a:lstStyle/>
        <a:p>
          <a:endParaRPr lang="en-US"/>
        </a:p>
      </dgm:t>
    </dgm:pt>
    <dgm:pt modelId="{165F85C5-876B-4F20-B55D-9D0DB9F2707C}" type="pres">
      <dgm:prSet presAssocID="{9F906BE9-029B-48DF-889C-54656C8AF8EE}" presName="matrix" presStyleCnt="0">
        <dgm:presLayoutVars>
          <dgm:chMax val="1"/>
          <dgm:dir/>
          <dgm:resizeHandles val="exact"/>
        </dgm:presLayoutVars>
      </dgm:prSet>
      <dgm:spPr/>
    </dgm:pt>
    <dgm:pt modelId="{15A1C020-6676-4E2F-BE0C-3DA4A7DAB317}" type="pres">
      <dgm:prSet presAssocID="{9F906BE9-029B-48DF-889C-54656C8AF8EE}" presName="axisShape" presStyleLbl="bgShp" presStyleIdx="0" presStyleCnt="1"/>
      <dgm:spPr/>
    </dgm:pt>
    <dgm:pt modelId="{ECBD1077-5882-415E-AC9C-E145B29B3676}" type="pres">
      <dgm:prSet presAssocID="{9F906BE9-029B-48DF-889C-54656C8AF8EE}" presName="rect1" presStyleLbl="node1" presStyleIdx="0" presStyleCnt="4" custScaleX="139438" custLinFactNeighborX="-36413">
        <dgm:presLayoutVars>
          <dgm:chMax val="0"/>
          <dgm:chPref val="0"/>
          <dgm:bulletEnabled val="1"/>
        </dgm:presLayoutVars>
      </dgm:prSet>
      <dgm:spPr/>
    </dgm:pt>
    <dgm:pt modelId="{4C9B3DAB-8FC3-412F-BF9E-967E3F97C23A}" type="pres">
      <dgm:prSet presAssocID="{9F906BE9-029B-48DF-889C-54656C8AF8EE}" presName="rect2" presStyleLbl="node1" presStyleIdx="1" presStyleCnt="4" custScaleX="136899" custLinFactNeighborX="31195" custLinFactNeighborY="-439">
        <dgm:presLayoutVars>
          <dgm:chMax val="0"/>
          <dgm:chPref val="0"/>
          <dgm:bulletEnabled val="1"/>
        </dgm:presLayoutVars>
      </dgm:prSet>
      <dgm:spPr/>
    </dgm:pt>
    <dgm:pt modelId="{4E9EC38A-4F48-44C4-A2D1-9FAC255B62D7}" type="pres">
      <dgm:prSet presAssocID="{9F906BE9-029B-48DF-889C-54656C8AF8EE}" presName="rect3" presStyleLbl="node1" presStyleIdx="2" presStyleCnt="4" custScaleX="141994" custLinFactNeighborX="-34219">
        <dgm:presLayoutVars>
          <dgm:chMax val="0"/>
          <dgm:chPref val="0"/>
          <dgm:bulletEnabled val="1"/>
        </dgm:presLayoutVars>
      </dgm:prSet>
      <dgm:spPr/>
    </dgm:pt>
    <dgm:pt modelId="{9AC09DFA-A0EB-42B5-B740-4EB6E1369947}" type="pres">
      <dgm:prSet presAssocID="{9F906BE9-029B-48DF-889C-54656C8AF8EE}" presName="rect4" presStyleLbl="node1" presStyleIdx="3" presStyleCnt="4" custScaleX="138658" custLinFactNeighborX="30315">
        <dgm:presLayoutVars>
          <dgm:chMax val="0"/>
          <dgm:chPref val="0"/>
          <dgm:bulletEnabled val="1"/>
        </dgm:presLayoutVars>
      </dgm:prSet>
      <dgm:spPr/>
    </dgm:pt>
  </dgm:ptLst>
  <dgm:cxnLst>
    <dgm:cxn modelId="{A32DAD46-85BF-46B3-9434-593E8A960249}" srcId="{9F906BE9-029B-48DF-889C-54656C8AF8EE}" destId="{E7F14B8A-7611-4210-A3CB-F97A26C02822}" srcOrd="3" destOrd="0" parTransId="{2D18CE94-869A-483D-941F-6C8D8E263855}" sibTransId="{0CA5904B-60A2-46CF-8629-42354887217B}"/>
    <dgm:cxn modelId="{C625F472-9C82-42B4-9AEA-2C90D46844B7}" type="presOf" srcId="{C1075291-511E-4D09-8AF6-02AC59919F55}" destId="{4C9B3DAB-8FC3-412F-BF9E-967E3F97C23A}" srcOrd="0" destOrd="0" presId="urn:microsoft.com/office/officeart/2005/8/layout/matrix2"/>
    <dgm:cxn modelId="{A1C1C887-6B04-488E-8549-2BFE2725124C}" type="presOf" srcId="{F083E63D-8C92-4494-BC20-E5DF384D47B5}" destId="{ECBD1077-5882-415E-AC9C-E145B29B3676}" srcOrd="0" destOrd="0" presId="urn:microsoft.com/office/officeart/2005/8/layout/matrix2"/>
    <dgm:cxn modelId="{8E504D9E-E707-489B-BDA7-E385D8B39AE1}" type="presOf" srcId="{9F906BE9-029B-48DF-889C-54656C8AF8EE}" destId="{165F85C5-876B-4F20-B55D-9D0DB9F2707C}" srcOrd="0" destOrd="0" presId="urn:microsoft.com/office/officeart/2005/8/layout/matrix2"/>
    <dgm:cxn modelId="{5CC575A9-A7C6-4562-83B7-3BEFD94BB9A0}" srcId="{9F906BE9-029B-48DF-889C-54656C8AF8EE}" destId="{C1075291-511E-4D09-8AF6-02AC59919F55}" srcOrd="1" destOrd="0" parTransId="{FBE1DD4A-0786-465A-96D8-B22DD8AF1EE8}" sibTransId="{D9A2FC48-851A-463C-AEAC-631A4645FB64}"/>
    <dgm:cxn modelId="{98E6C2B3-9B62-4B3A-A41A-B7EAD2A1586D}" srcId="{9F906BE9-029B-48DF-889C-54656C8AF8EE}" destId="{F083E63D-8C92-4494-BC20-E5DF384D47B5}" srcOrd="0" destOrd="0" parTransId="{835B7A73-4211-4E8B-ACF6-F307AA5E340B}" sibTransId="{D49F1A8F-5812-4EBD-8C46-B1C3D4C272D1}"/>
    <dgm:cxn modelId="{E301A2C8-2646-49D7-BCA6-5413F05D0213}" srcId="{9F906BE9-029B-48DF-889C-54656C8AF8EE}" destId="{50797C17-DCD2-4510-B1D9-41DBA736F202}" srcOrd="2" destOrd="0" parTransId="{A57F27AC-6A39-452F-98FC-FCA77016218D}" sibTransId="{92DC8AB0-9544-4AC4-B847-8CE6BF1700F4}"/>
    <dgm:cxn modelId="{3E4A73E7-AFC5-48E8-B8A6-D6A13658CD70}" type="presOf" srcId="{E7F14B8A-7611-4210-A3CB-F97A26C02822}" destId="{9AC09DFA-A0EB-42B5-B740-4EB6E1369947}" srcOrd="0" destOrd="0" presId="urn:microsoft.com/office/officeart/2005/8/layout/matrix2"/>
    <dgm:cxn modelId="{9FD220F2-CA21-4020-8419-5169AB9AF519}" type="presOf" srcId="{50797C17-DCD2-4510-B1D9-41DBA736F202}" destId="{4E9EC38A-4F48-44C4-A2D1-9FAC255B62D7}" srcOrd="0" destOrd="0" presId="urn:microsoft.com/office/officeart/2005/8/layout/matrix2"/>
    <dgm:cxn modelId="{70796846-0D35-4FA4-B824-D06EB1DC7D6A}" type="presParOf" srcId="{165F85C5-876B-4F20-B55D-9D0DB9F2707C}" destId="{15A1C020-6676-4E2F-BE0C-3DA4A7DAB317}" srcOrd="0" destOrd="0" presId="urn:microsoft.com/office/officeart/2005/8/layout/matrix2"/>
    <dgm:cxn modelId="{A149404B-0978-45EC-A226-651477FC996C}" type="presParOf" srcId="{165F85C5-876B-4F20-B55D-9D0DB9F2707C}" destId="{ECBD1077-5882-415E-AC9C-E145B29B3676}" srcOrd="1" destOrd="0" presId="urn:microsoft.com/office/officeart/2005/8/layout/matrix2"/>
    <dgm:cxn modelId="{2BFD5D24-9EC6-4599-8ED6-8C7C29D1E4B6}" type="presParOf" srcId="{165F85C5-876B-4F20-B55D-9D0DB9F2707C}" destId="{4C9B3DAB-8FC3-412F-BF9E-967E3F97C23A}" srcOrd="2" destOrd="0" presId="urn:microsoft.com/office/officeart/2005/8/layout/matrix2"/>
    <dgm:cxn modelId="{FC680B5B-277C-433B-82A1-C892921F992C}" type="presParOf" srcId="{165F85C5-876B-4F20-B55D-9D0DB9F2707C}" destId="{4E9EC38A-4F48-44C4-A2D1-9FAC255B62D7}" srcOrd="3" destOrd="0" presId="urn:microsoft.com/office/officeart/2005/8/layout/matrix2"/>
    <dgm:cxn modelId="{4416FD74-9B19-4DD0-9C10-7E4828D681B9}" type="presParOf" srcId="{165F85C5-876B-4F20-B55D-9D0DB9F2707C}" destId="{9AC09DFA-A0EB-42B5-B740-4EB6E1369947}"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A1C020-6676-4E2F-BE0C-3DA4A7DAB317}">
      <dsp:nvSpPr>
        <dsp:cNvPr id="0" name=""/>
        <dsp:cNvSpPr/>
      </dsp:nvSpPr>
      <dsp:spPr>
        <a:xfrm>
          <a:off x="1031524" y="0"/>
          <a:ext cx="5602986" cy="5602986"/>
        </a:xfrm>
        <a:prstGeom prst="quadArrow">
          <a:avLst>
            <a:gd name="adj1" fmla="val 2000"/>
            <a:gd name="adj2" fmla="val 4000"/>
            <a:gd name="adj3" fmla="val 5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BD1077-5882-415E-AC9C-E145B29B3676}">
      <dsp:nvSpPr>
        <dsp:cNvPr id="0" name=""/>
        <dsp:cNvSpPr/>
      </dsp:nvSpPr>
      <dsp:spPr>
        <a:xfrm>
          <a:off x="137691" y="364194"/>
          <a:ext cx="3125076" cy="2241194"/>
        </a:xfrm>
        <a:prstGeom prst="roundRect">
          <a:avLst/>
        </a:prstGeom>
        <a:solidFill>
          <a:schemeClr val="lt1">
            <a:hueOff val="0"/>
            <a:satOff val="0"/>
            <a:lumOff val="0"/>
            <a:alphaOff val="0"/>
          </a:schemeClr>
        </a:solidFill>
        <a:ln w="34925" cap="flat" cmpd="sng" algn="in">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b="1" kern="1200" baseline="0" dirty="0"/>
            <a:t>¿Qué es técnicamente?</a:t>
          </a:r>
          <a:r>
            <a:rPr lang="es-ES" sz="1400" kern="1200" baseline="0" dirty="0"/>
            <a:t> Es el fallo en proteger la confidencialidad e integridad de los datos en tránsito y en reposo mediante el uso incorrecto, ausente o debilitado de algoritmos y protocolos criptográficos.</a:t>
          </a:r>
          <a:endParaRPr lang="en-US" sz="1400" kern="1200" dirty="0"/>
        </a:p>
      </dsp:txBody>
      <dsp:txXfrm>
        <a:off x="247097" y="473600"/>
        <a:ext cx="2906264" cy="2022382"/>
      </dsp:txXfrm>
    </dsp:sp>
    <dsp:sp modelId="{4C9B3DAB-8FC3-412F-BF9E-967E3F97C23A}">
      <dsp:nvSpPr>
        <dsp:cNvPr id="0" name=""/>
        <dsp:cNvSpPr/>
      </dsp:nvSpPr>
      <dsp:spPr>
        <a:xfrm>
          <a:off x="4314773" y="354355"/>
          <a:ext cx="3068172" cy="2241194"/>
        </a:xfrm>
        <a:prstGeom prst="roundRect">
          <a:avLst/>
        </a:prstGeom>
        <a:solidFill>
          <a:schemeClr val="lt1">
            <a:hueOff val="0"/>
            <a:satOff val="0"/>
            <a:lumOff val="0"/>
            <a:alphaOff val="0"/>
          </a:schemeClr>
        </a:solidFill>
        <a:ln w="34925" cap="flat" cmpd="sng" algn="in">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b="1" kern="1200" baseline="0" dirty="0"/>
            <a:t>¿En qué capa ocurre? </a:t>
          </a:r>
          <a:r>
            <a:rPr lang="es-ES" sz="1400" kern="1200" baseline="0" dirty="0"/>
            <a:t>Principalmente en la capa de aplicación (lógica de cifrado) y capa de presentación/red (TLS/SSL). También afecta la base de datos (almacenamiento de secretos).</a:t>
          </a:r>
          <a:endParaRPr lang="en-US" sz="1400" kern="1200" dirty="0"/>
        </a:p>
      </dsp:txBody>
      <dsp:txXfrm>
        <a:off x="4424179" y="463761"/>
        <a:ext cx="2849360" cy="2022382"/>
      </dsp:txXfrm>
    </dsp:sp>
    <dsp:sp modelId="{4E9EC38A-4F48-44C4-A2D1-9FAC255B62D7}">
      <dsp:nvSpPr>
        <dsp:cNvPr id="0" name=""/>
        <dsp:cNvSpPr/>
      </dsp:nvSpPr>
      <dsp:spPr>
        <a:xfrm>
          <a:off x="158220" y="2997597"/>
          <a:ext cx="3182361" cy="2241194"/>
        </a:xfrm>
        <a:prstGeom prst="roundRect">
          <a:avLst/>
        </a:prstGeom>
        <a:solidFill>
          <a:schemeClr val="lt1">
            <a:hueOff val="0"/>
            <a:satOff val="0"/>
            <a:lumOff val="0"/>
            <a:alphaOff val="0"/>
          </a:schemeClr>
        </a:solidFill>
        <a:ln w="34925" cap="flat" cmpd="sng" algn="in">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b="1" kern="1200" baseline="0" dirty="0"/>
            <a:t>Error de diseño/configuración: </a:t>
          </a:r>
          <a:r>
            <a:rPr lang="es-ES" sz="1400" kern="1200" baseline="0" dirty="0"/>
            <a:t>Uso de funciones hash inseguras (MD5/SHA1), falta de "</a:t>
          </a:r>
          <a:r>
            <a:rPr lang="es-ES" sz="1400" kern="1200" baseline="0" dirty="0" err="1"/>
            <a:t>salting</a:t>
          </a:r>
          <a:r>
            <a:rPr lang="es-ES" sz="1400" kern="1200" baseline="0" dirty="0"/>
            <a:t>", protocolos de transporte obsoletos (TLS 1.0) o gestión deficiente de llaves (</a:t>
          </a:r>
          <a:r>
            <a:rPr lang="es-ES" sz="1400" kern="1200" baseline="0" dirty="0" err="1"/>
            <a:t>hardcoded</a:t>
          </a:r>
          <a:r>
            <a:rPr lang="es-ES" sz="1400" kern="1200" baseline="0" dirty="0"/>
            <a:t> </a:t>
          </a:r>
          <a:r>
            <a:rPr lang="es-ES" sz="1400" kern="1200" baseline="0" dirty="0" err="1"/>
            <a:t>keys</a:t>
          </a:r>
          <a:r>
            <a:rPr lang="es-ES" sz="1400" kern="1200" baseline="0" dirty="0"/>
            <a:t>).</a:t>
          </a:r>
          <a:endParaRPr lang="en-US" sz="1400" kern="1200" dirty="0"/>
        </a:p>
      </dsp:txBody>
      <dsp:txXfrm>
        <a:off x="267626" y="3107003"/>
        <a:ext cx="2963549" cy="2022382"/>
      </dsp:txXfrm>
    </dsp:sp>
    <dsp:sp modelId="{9AC09DFA-A0EB-42B5-B740-4EB6E1369947}">
      <dsp:nvSpPr>
        <dsp:cNvPr id="0" name=""/>
        <dsp:cNvSpPr/>
      </dsp:nvSpPr>
      <dsp:spPr>
        <a:xfrm>
          <a:off x="4275339" y="2997597"/>
          <a:ext cx="3107595" cy="2241194"/>
        </a:xfrm>
        <a:prstGeom prst="roundRect">
          <a:avLst/>
        </a:prstGeom>
        <a:solidFill>
          <a:schemeClr val="lt1">
            <a:hueOff val="0"/>
            <a:satOff val="0"/>
            <a:lumOff val="0"/>
            <a:alphaOff val="0"/>
          </a:schemeClr>
        </a:solidFill>
        <a:ln w="34925" cap="flat" cmpd="sng" algn="in">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b="1" kern="1200" baseline="0" dirty="0"/>
            <a:t>Confidencialidad es el principio más afectado. </a:t>
          </a:r>
          <a:r>
            <a:rPr lang="es-ES" sz="1400" kern="1200" baseline="0" dirty="0"/>
            <a:t>Si el cifrado es débil, inexistente o las llaves están expuestas, la información deja de ser secreta. Un atacante puede leer datos sensibles (PII, secretos comerciales, credenciales) en texto plano.</a:t>
          </a:r>
          <a:endParaRPr lang="en-US" sz="1400" kern="1200" dirty="0"/>
        </a:p>
      </dsp:txBody>
      <dsp:txXfrm>
        <a:off x="4384745" y="3107003"/>
        <a:ext cx="2888783" cy="2022382"/>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s-ES"/>
              <a:t>Haga clic para modificar el estilo de título del patrón</a:t>
            </a:r>
            <a:endParaRPr lang="en-US"/>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5A51376A-989F-4B34-B4D9-CC1D9215C2CB}" type="datetimeFigureOut">
              <a:rPr lang="es-MX" smtClean="0"/>
              <a:t>26/10/2026</a:t>
            </a:fld>
            <a:endParaRPr lang="es-MX"/>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s-MX"/>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D6767711-581E-4BE7-9225-7D783F20B018}" type="slidenum">
              <a:rPr lang="es-MX" smtClean="0"/>
              <a:t>‹Nº›</a:t>
            </a:fld>
            <a:endParaRPr lang="es-MX"/>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s-MX"/>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s-MX"/>
            </a:p>
          </p:txBody>
        </p:sp>
      </p:grpSp>
    </p:spTree>
    <p:extLst>
      <p:ext uri="{BB962C8B-B14F-4D97-AF65-F5344CB8AC3E}">
        <p14:creationId xmlns:p14="http://schemas.microsoft.com/office/powerpoint/2010/main" val="393740063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5A51376A-989F-4B34-B4D9-CC1D9215C2CB}" type="datetimeFigureOut">
              <a:rPr lang="es-MX" smtClean="0"/>
              <a:t>26/10/2026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6767711-581E-4BE7-9225-7D783F20B018}" type="slidenum">
              <a:rPr lang="es-MX" smtClean="0"/>
              <a:t>‹Nº›</a:t>
            </a:fld>
            <a:endParaRPr lang="es-MX"/>
          </a:p>
        </p:txBody>
      </p:sp>
    </p:spTree>
    <p:extLst>
      <p:ext uri="{BB962C8B-B14F-4D97-AF65-F5344CB8AC3E}">
        <p14:creationId xmlns:p14="http://schemas.microsoft.com/office/powerpoint/2010/main" val="1191525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A51376A-989F-4B34-B4D9-CC1D9215C2CB}" type="datetimeFigureOut">
              <a:rPr lang="es-MX" smtClean="0"/>
              <a:t>26/10/2026</a:t>
            </a:fld>
            <a:endParaRPr lang="es-MX"/>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s-MX"/>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D6767711-581E-4BE7-9225-7D783F20B018}" type="slidenum">
              <a:rPr lang="es-MX" smtClean="0"/>
              <a:t>‹Nº›</a:t>
            </a:fld>
            <a:endParaRPr lang="es-MX"/>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64408262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ES"/>
              <a:t>Haga clic para modificar el estilo de título del patrón</a:t>
            </a:r>
            <a:endParaRPr lang="en-US"/>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5A51376A-989F-4B34-B4D9-CC1D9215C2CB}" type="datetimeFigureOut">
              <a:rPr lang="es-MX" smtClean="0"/>
              <a:t>26/10/2026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6767711-581E-4BE7-9225-7D783F20B018}" type="slidenum">
              <a:rPr lang="es-MX" smtClean="0"/>
              <a:t>‹Nº›</a:t>
            </a:fld>
            <a:endParaRPr lang="es-MX"/>
          </a:p>
        </p:txBody>
      </p:sp>
    </p:spTree>
    <p:extLst>
      <p:ext uri="{BB962C8B-B14F-4D97-AF65-F5344CB8AC3E}">
        <p14:creationId xmlns:p14="http://schemas.microsoft.com/office/powerpoint/2010/main" val="4245894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5A51376A-989F-4B34-B4D9-CC1D9215C2CB}" type="datetimeFigureOut">
              <a:rPr lang="es-MX" smtClean="0"/>
              <a:t>26/10/2026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D6767711-581E-4BE7-9225-7D783F20B018}" type="slidenum">
              <a:rPr lang="es-MX" smtClean="0"/>
              <a:t>‹Nº›</a:t>
            </a:fld>
            <a:endParaRPr lang="es-MX"/>
          </a:p>
        </p:txBody>
      </p:sp>
    </p:spTree>
    <p:extLst>
      <p:ext uri="{BB962C8B-B14F-4D97-AF65-F5344CB8AC3E}">
        <p14:creationId xmlns:p14="http://schemas.microsoft.com/office/powerpoint/2010/main" val="776893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5A51376A-989F-4B34-B4D9-CC1D9215C2CB}" type="datetimeFigureOut">
              <a:rPr lang="es-MX" smtClean="0"/>
              <a:t>26/10/2026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D6767711-581E-4BE7-9225-7D783F20B018}" type="slidenum">
              <a:rPr lang="es-MX" smtClean="0"/>
              <a:t>‹Nº›</a:t>
            </a:fld>
            <a:endParaRPr lang="es-MX"/>
          </a:p>
        </p:txBody>
      </p:sp>
    </p:spTree>
    <p:extLst>
      <p:ext uri="{BB962C8B-B14F-4D97-AF65-F5344CB8AC3E}">
        <p14:creationId xmlns:p14="http://schemas.microsoft.com/office/powerpoint/2010/main" val="3694925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51376A-989F-4B34-B4D9-CC1D9215C2CB}" type="datetimeFigureOut">
              <a:rPr lang="es-MX" smtClean="0"/>
              <a:t>26/10/2026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D6767711-581E-4BE7-9225-7D783F20B018}" type="slidenum">
              <a:rPr lang="es-MX" smtClean="0"/>
              <a:t>‹Nº›</a:t>
            </a:fld>
            <a:endParaRPr lang="es-MX"/>
          </a:p>
        </p:txBody>
      </p:sp>
    </p:spTree>
    <p:extLst>
      <p:ext uri="{BB962C8B-B14F-4D97-AF65-F5344CB8AC3E}">
        <p14:creationId xmlns:p14="http://schemas.microsoft.com/office/powerpoint/2010/main" val="1380507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s-ES"/>
              <a:t>Haga clic para modificar el estilo de título del patrón</a:t>
            </a:r>
            <a:endParaRPr lang="en-US"/>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A51376A-989F-4B34-B4D9-CC1D9215C2CB}" type="datetimeFigureOut">
              <a:rPr lang="es-MX" smtClean="0"/>
              <a:t>26/10/2026</a:t>
            </a:fld>
            <a:endParaRPr lang="es-MX"/>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s-MX"/>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6767711-581E-4BE7-9225-7D783F20B018}" type="slidenum">
              <a:rPr lang="es-MX" smtClean="0"/>
              <a:t>‹Nº›</a:t>
            </a:fld>
            <a:endParaRPr lang="es-MX"/>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97619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A51376A-989F-4B34-B4D9-CC1D9215C2CB}" type="datetimeFigureOut">
              <a:rPr lang="es-MX" smtClean="0"/>
              <a:t>26/10/2026</a:t>
            </a:fld>
            <a:endParaRPr lang="es-MX"/>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s-MX"/>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6767711-581E-4BE7-9225-7D783F20B018}" type="slidenum">
              <a:rPr lang="es-MX" smtClean="0"/>
              <a:t>‹Nº›</a:t>
            </a:fld>
            <a:endParaRPr lang="es-MX"/>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3984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5A51376A-989F-4B34-B4D9-CC1D9215C2CB}" type="datetimeFigureOut">
              <a:rPr lang="es-MX" smtClean="0"/>
              <a:t>26/10/2026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6767711-581E-4BE7-9225-7D783F20B018}" type="slidenum">
              <a:rPr lang="es-MX" smtClean="0"/>
              <a:t>‹Nº›</a:t>
            </a:fld>
            <a:endParaRPr lang="es-MX"/>
          </a:p>
        </p:txBody>
      </p:sp>
    </p:spTree>
    <p:extLst>
      <p:ext uri="{BB962C8B-B14F-4D97-AF65-F5344CB8AC3E}">
        <p14:creationId xmlns:p14="http://schemas.microsoft.com/office/powerpoint/2010/main" val="789116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5A51376A-989F-4B34-B4D9-CC1D9215C2CB}" type="datetimeFigureOut">
              <a:rPr lang="es-MX" smtClean="0"/>
              <a:t>26/10/2026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6767711-581E-4BE7-9225-7D783F20B018}" type="slidenum">
              <a:rPr lang="es-MX" smtClean="0"/>
              <a:t>‹Nº›</a:t>
            </a:fld>
            <a:endParaRPr lang="es-MX"/>
          </a:p>
        </p:txBody>
      </p:sp>
    </p:spTree>
    <p:extLst>
      <p:ext uri="{BB962C8B-B14F-4D97-AF65-F5344CB8AC3E}">
        <p14:creationId xmlns:p14="http://schemas.microsoft.com/office/powerpoint/2010/main" val="3439797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A51376A-989F-4B34-B4D9-CC1D9215C2CB}" type="datetimeFigureOut">
              <a:rPr lang="es-MX" smtClean="0"/>
              <a:t>26/10/2026</a:t>
            </a:fld>
            <a:endParaRPr lang="es-MX"/>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s-MX"/>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D6767711-581E-4BE7-9225-7D783F20B018}" type="slidenum">
              <a:rPr lang="es-MX" smtClean="0"/>
              <a:t>‹Nº›</a:t>
            </a:fld>
            <a:endParaRPr lang="es-MX"/>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Tree>
    <p:extLst>
      <p:ext uri="{BB962C8B-B14F-4D97-AF65-F5344CB8AC3E}">
        <p14:creationId xmlns:p14="http://schemas.microsoft.com/office/powerpoint/2010/main" val="28923507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094BFB-9A46-2F58-B945-99AAB5F5E428}"/>
              </a:ext>
            </a:extLst>
          </p:cNvPr>
          <p:cNvSpPr>
            <a:spLocks noGrp="1"/>
          </p:cNvSpPr>
          <p:nvPr>
            <p:ph type="ctrTitle"/>
          </p:nvPr>
        </p:nvSpPr>
        <p:spPr>
          <a:xfrm>
            <a:off x="2994120" y="886043"/>
            <a:ext cx="8361229" cy="3064791"/>
          </a:xfrm>
        </p:spPr>
        <p:txBody>
          <a:bodyPr/>
          <a:lstStyle/>
          <a:p>
            <a:r>
              <a:rPr lang="es-MX" dirty="0"/>
              <a:t>A04:2025 - </a:t>
            </a:r>
            <a:r>
              <a:rPr lang="es-MX" dirty="0" err="1"/>
              <a:t>Cryptographic</a:t>
            </a:r>
            <a:r>
              <a:rPr lang="es-MX" dirty="0"/>
              <a:t> </a:t>
            </a:r>
            <a:r>
              <a:rPr lang="es-MX" dirty="0" err="1"/>
              <a:t>Failures</a:t>
            </a:r>
            <a:endParaRPr lang="es-MX" dirty="0"/>
          </a:p>
        </p:txBody>
      </p:sp>
      <p:sp>
        <p:nvSpPr>
          <p:cNvPr id="3" name="Subtítulo 2">
            <a:extLst>
              <a:ext uri="{FF2B5EF4-FFF2-40B4-BE49-F238E27FC236}">
                <a16:creationId xmlns:a16="http://schemas.microsoft.com/office/drawing/2014/main" id="{ACDFB65D-9874-710B-FF6C-A5AC35BF909E}"/>
              </a:ext>
            </a:extLst>
          </p:cNvPr>
          <p:cNvSpPr>
            <a:spLocks noGrp="1"/>
          </p:cNvSpPr>
          <p:nvPr>
            <p:ph type="subTitle" idx="1"/>
          </p:nvPr>
        </p:nvSpPr>
        <p:spPr>
          <a:xfrm>
            <a:off x="1350979" y="4514988"/>
            <a:ext cx="4745021" cy="1456969"/>
          </a:xfrm>
        </p:spPr>
        <p:txBody>
          <a:bodyPr>
            <a:normAutofit fontScale="77500" lnSpcReduction="20000"/>
          </a:bodyPr>
          <a:lstStyle/>
          <a:p>
            <a:r>
              <a:rPr lang="es-ES" dirty="0"/>
              <a:t>Jorge Ulises del Moral Muñoz - 202133995</a:t>
            </a:r>
          </a:p>
          <a:p>
            <a:r>
              <a:rPr lang="es-ES" dirty="0"/>
              <a:t>Miguel Ángel de la Cruz Espinosa – 202118754</a:t>
            </a:r>
          </a:p>
          <a:p>
            <a:r>
              <a:rPr lang="es-MX"/>
              <a:t>Marco </a:t>
            </a:r>
            <a:r>
              <a:rPr lang="es-MX" dirty="0"/>
              <a:t>Antonio Mota Herrera - 202150587</a:t>
            </a:r>
            <a:endParaRPr lang="es-ES" dirty="0"/>
          </a:p>
        </p:txBody>
      </p:sp>
      <p:sp>
        <p:nvSpPr>
          <p:cNvPr id="4" name="TextBox 3">
            <a:extLst>
              <a:ext uri="{FF2B5EF4-FFF2-40B4-BE49-F238E27FC236}">
                <a16:creationId xmlns:a16="http://schemas.microsoft.com/office/drawing/2014/main" id="{F3D02A7D-7158-40D8-F233-A25252CA74E5}"/>
              </a:ext>
            </a:extLst>
          </p:cNvPr>
          <p:cNvSpPr txBox="1"/>
          <p:nvPr/>
        </p:nvSpPr>
        <p:spPr>
          <a:xfrm>
            <a:off x="11872682" y="6488668"/>
            <a:ext cx="319318" cy="369332"/>
          </a:xfrm>
          <a:prstGeom prst="rect">
            <a:avLst/>
          </a:prstGeom>
          <a:noFill/>
        </p:spPr>
        <p:txBody>
          <a:bodyPr wrap="none" rtlCol="0">
            <a:spAutoFit/>
          </a:bodyPr>
          <a:lstStyle/>
          <a:p>
            <a:r>
              <a:rPr lang="es-MX" dirty="0"/>
              <a:t>1</a:t>
            </a:r>
            <a:endParaRPr lang="en-US" dirty="0"/>
          </a:p>
        </p:txBody>
      </p:sp>
    </p:spTree>
    <p:extLst>
      <p:ext uri="{BB962C8B-B14F-4D97-AF65-F5344CB8AC3E}">
        <p14:creationId xmlns:p14="http://schemas.microsoft.com/office/powerpoint/2010/main" val="2333399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627F9D-302F-EC28-82FF-F476174EC714}"/>
              </a:ext>
            </a:extLst>
          </p:cNvPr>
          <p:cNvSpPr>
            <a:spLocks noGrp="1"/>
          </p:cNvSpPr>
          <p:nvPr>
            <p:ph type="title"/>
          </p:nvPr>
        </p:nvSpPr>
        <p:spPr>
          <a:xfrm>
            <a:off x="1295400" y="184666"/>
            <a:ext cx="9601200" cy="1485900"/>
          </a:xfrm>
        </p:spPr>
        <p:txBody>
          <a:bodyPr/>
          <a:lstStyle/>
          <a:p>
            <a:pPr algn="ctr"/>
            <a:r>
              <a:rPr lang="es-MX" dirty="0">
                <a:latin typeface="Bahnschrift" panose="020B0502040204020203" pitchFamily="34" charset="0"/>
              </a:rPr>
              <a:t>Descripción técnica</a:t>
            </a:r>
          </a:p>
        </p:txBody>
      </p:sp>
      <p:graphicFrame>
        <p:nvGraphicFramePr>
          <p:cNvPr id="1029" name="Marcador de contenido 2">
            <a:extLst>
              <a:ext uri="{FF2B5EF4-FFF2-40B4-BE49-F238E27FC236}">
                <a16:creationId xmlns:a16="http://schemas.microsoft.com/office/drawing/2014/main" id="{8A299592-F079-52B1-AA7A-15AFA54BB234}"/>
              </a:ext>
            </a:extLst>
          </p:cNvPr>
          <p:cNvGraphicFramePr>
            <a:graphicFrameLocks noGrp="1"/>
          </p:cNvGraphicFramePr>
          <p:nvPr>
            <p:ph idx="1"/>
            <p:extLst>
              <p:ext uri="{D42A27DB-BD31-4B8C-83A1-F6EECF244321}">
                <p14:modId xmlns:p14="http://schemas.microsoft.com/office/powerpoint/2010/main" val="791307734"/>
              </p:ext>
            </p:extLst>
          </p:nvPr>
        </p:nvGraphicFramePr>
        <p:xfrm>
          <a:off x="2281674" y="1070348"/>
          <a:ext cx="7628652" cy="56029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1E49159C-D21B-3299-97F6-46EA6FDC9E8A}"/>
              </a:ext>
            </a:extLst>
          </p:cNvPr>
          <p:cNvSpPr txBox="1"/>
          <p:nvPr/>
        </p:nvSpPr>
        <p:spPr>
          <a:xfrm>
            <a:off x="11872682" y="6488668"/>
            <a:ext cx="319318" cy="369332"/>
          </a:xfrm>
          <a:prstGeom prst="rect">
            <a:avLst/>
          </a:prstGeom>
          <a:noFill/>
        </p:spPr>
        <p:txBody>
          <a:bodyPr wrap="none" rtlCol="0">
            <a:spAutoFit/>
          </a:bodyPr>
          <a:lstStyle/>
          <a:p>
            <a:r>
              <a:rPr lang="es-MX" dirty="0"/>
              <a:t>2</a:t>
            </a:r>
            <a:endParaRPr lang="en-US" dirty="0"/>
          </a:p>
        </p:txBody>
      </p:sp>
    </p:spTree>
    <p:extLst>
      <p:ext uri="{BB962C8B-B14F-4D97-AF65-F5344CB8AC3E}">
        <p14:creationId xmlns:p14="http://schemas.microsoft.com/office/powerpoint/2010/main" val="3824195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83B91B61-BFCA-4647-957E-A8269BE46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BC8660-930F-845F-79DD-852AEE41FEC7}"/>
              </a:ext>
            </a:extLst>
          </p:cNvPr>
          <p:cNvSpPr>
            <a:spLocks noGrp="1"/>
          </p:cNvSpPr>
          <p:nvPr>
            <p:ph type="title"/>
          </p:nvPr>
        </p:nvSpPr>
        <p:spPr>
          <a:xfrm>
            <a:off x="5100824" y="685800"/>
            <a:ext cx="6176776" cy="1485900"/>
          </a:xfrm>
        </p:spPr>
        <p:txBody>
          <a:bodyPr>
            <a:normAutofit/>
          </a:bodyPr>
          <a:lstStyle/>
          <a:p>
            <a:r>
              <a:rPr lang="es-MX">
                <a:latin typeface="Bahnschrift" panose="020B0502040204020203" pitchFamily="34" charset="0"/>
              </a:rPr>
              <a:t>Características principales</a:t>
            </a:r>
          </a:p>
        </p:txBody>
      </p:sp>
      <p:pic>
        <p:nvPicPr>
          <p:cNvPr id="2052" name="Picture 4" descr="Log Avanzado">
            <a:extLst>
              <a:ext uri="{FF2B5EF4-FFF2-40B4-BE49-F238E27FC236}">
                <a16:creationId xmlns:a16="http://schemas.microsoft.com/office/drawing/2014/main" id="{D5543D50-18B6-B54F-0318-2A1C4508D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197" r="29234" b="-1"/>
          <a:stretch>
            <a:fillRect/>
          </a:stretch>
        </p:blipFill>
        <p:spPr bwMode="auto">
          <a:xfrm>
            <a:off x="-1" y="10"/>
            <a:ext cx="4373546" cy="6857990"/>
          </a:xfrm>
          <a:prstGeom prst="rect">
            <a:avLst/>
          </a:prstGeom>
          <a:noFill/>
          <a:extLst>
            <a:ext uri="{909E8E84-426E-40DD-AFC4-6F175D3DCCD1}">
              <a14:hiddenFill xmlns:a14="http://schemas.microsoft.com/office/drawing/2010/main">
                <a:solidFill>
                  <a:srgbClr val="FFFFFF"/>
                </a:solidFill>
              </a14:hiddenFill>
            </a:ext>
          </a:extLst>
        </p:spPr>
      </p:pic>
      <p:sp>
        <p:nvSpPr>
          <p:cNvPr id="2059" name="Rectangle 2058">
            <a:extLst>
              <a:ext uri="{FF2B5EF4-FFF2-40B4-BE49-F238E27FC236}">
                <a16:creationId xmlns:a16="http://schemas.microsoft.com/office/drawing/2014/main" id="{92D1D7C6-1C89-420C-8D35-483654167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2">
            <a:extLst>
              <a:ext uri="{FF2B5EF4-FFF2-40B4-BE49-F238E27FC236}">
                <a16:creationId xmlns:a16="http://schemas.microsoft.com/office/drawing/2014/main" id="{0FB8CCEC-3759-6872-80CB-F982D35F029D}"/>
              </a:ext>
            </a:extLst>
          </p:cNvPr>
          <p:cNvSpPr>
            <a:spLocks noGrp="1" noChangeArrowheads="1"/>
          </p:cNvSpPr>
          <p:nvPr>
            <p:ph idx="1"/>
          </p:nvPr>
        </p:nvSpPr>
        <p:spPr bwMode="auto">
          <a:xfrm>
            <a:off x="5100824" y="2286000"/>
            <a:ext cx="6176776" cy="358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s-MX" altLang="es-MX" sz="1900" b="1" i="0" u="none" strike="noStrike" cap="none" normalizeH="0" baseline="0" dirty="0">
                <a:ln>
                  <a:noFill/>
                </a:ln>
                <a:effectLst/>
                <a:latin typeface="Bahnschrift" panose="020B0502040204020203" pitchFamily="34" charset="0"/>
              </a:rPr>
              <a:t>Manifestación:</a:t>
            </a:r>
            <a:r>
              <a:rPr kumimoji="0" lang="es-MX" altLang="es-MX" sz="1900" b="0" i="0" u="none" strike="noStrike" cap="none" normalizeH="0" baseline="0" dirty="0">
                <a:ln>
                  <a:noFill/>
                </a:ln>
                <a:effectLst/>
                <a:latin typeface="Bahnschrift" panose="020B0502040204020203" pitchFamily="34" charset="0"/>
              </a:rPr>
              <a:t> Datos sensibles visibles en logs, </a:t>
            </a:r>
            <a:r>
              <a:rPr kumimoji="0" lang="es-MX" altLang="es-MX" sz="1900" b="0" i="0" u="none" strike="noStrike" cap="none" normalizeH="0" baseline="0" dirty="0" err="1">
                <a:ln>
                  <a:noFill/>
                </a:ln>
                <a:effectLst/>
                <a:latin typeface="Bahnschrift" panose="020B0502040204020203" pitchFamily="34" charset="0"/>
              </a:rPr>
              <a:t>URLs</a:t>
            </a:r>
            <a:r>
              <a:rPr kumimoji="0" lang="es-MX" altLang="es-MX" sz="1900" b="0" i="0" u="none" strike="noStrike" cap="none" normalizeH="0" baseline="0" dirty="0">
                <a:ln>
                  <a:noFill/>
                </a:ln>
                <a:effectLst/>
                <a:latin typeface="Bahnschrift" panose="020B0502040204020203" pitchFamily="34" charset="0"/>
              </a:rPr>
              <a:t> o bases de datos, API </a:t>
            </a:r>
            <a:r>
              <a:rPr kumimoji="0" lang="es-MX" altLang="es-MX" sz="1900" b="0" i="0" u="none" strike="noStrike" cap="none" normalizeH="0" baseline="0" dirty="0" err="1">
                <a:ln>
                  <a:noFill/>
                </a:ln>
                <a:effectLst/>
                <a:latin typeface="Bahnschrift" panose="020B0502040204020203" pitchFamily="34" charset="0"/>
              </a:rPr>
              <a:t>Keys</a:t>
            </a:r>
            <a:r>
              <a:rPr kumimoji="0" lang="es-MX" altLang="es-MX" sz="1900" b="0" i="0" u="none" strike="noStrike" cap="none" normalizeH="0" baseline="0" dirty="0">
                <a:ln>
                  <a:noFill/>
                </a:ln>
                <a:effectLst/>
                <a:latin typeface="Bahnschrift" panose="020B0502040204020203" pitchFamily="34" charset="0"/>
              </a:rPr>
              <a:t> dentro de código.</a:t>
            </a:r>
          </a:p>
          <a:p>
            <a:pPr marL="0" marR="0" lvl="0" indent="0" defTabSz="914400" rtl="0" eaLnBrk="0" fontAlgn="base" latinLnBrk="0" hangingPunct="0">
              <a:spcBef>
                <a:spcPct val="0"/>
              </a:spcBef>
              <a:spcAft>
                <a:spcPts val="600"/>
              </a:spcAft>
              <a:buClrTx/>
              <a:buSzTx/>
              <a:buFontTx/>
              <a:buChar char="•"/>
              <a:tabLst/>
            </a:pPr>
            <a:endParaRPr kumimoji="0" lang="es-MX" altLang="es-MX" sz="1900" b="0" i="0" u="none" strike="noStrike" cap="none" normalizeH="0" baseline="0" dirty="0">
              <a:ln>
                <a:noFill/>
              </a:ln>
              <a:effectLst/>
              <a:latin typeface="Bahnschrift" panose="020B0502040204020203" pitchFamily="34" charset="0"/>
            </a:endParaRPr>
          </a:p>
          <a:p>
            <a:pPr marL="0" marR="0" lvl="0" indent="0" defTabSz="914400" rtl="0" eaLnBrk="0" fontAlgn="base" latinLnBrk="0" hangingPunct="0">
              <a:spcBef>
                <a:spcPct val="0"/>
              </a:spcBef>
              <a:spcAft>
                <a:spcPts val="600"/>
              </a:spcAft>
              <a:buClrTx/>
              <a:buSzTx/>
              <a:buFontTx/>
              <a:buChar char="•"/>
              <a:tabLst/>
            </a:pPr>
            <a:r>
              <a:rPr kumimoji="0" lang="es-MX" altLang="es-MX" sz="1900" b="1" i="0" u="none" strike="noStrike" cap="none" normalizeH="0" baseline="0" dirty="0">
                <a:ln>
                  <a:noFill/>
                </a:ln>
                <a:effectLst/>
                <a:latin typeface="Bahnschrift" panose="020B0502040204020203" pitchFamily="34" charset="0"/>
              </a:rPr>
              <a:t>Indicadores comunes:</a:t>
            </a:r>
            <a:r>
              <a:rPr kumimoji="0" lang="es-MX" altLang="es-MX" sz="1900" b="0" i="0" u="none" strike="noStrike" cap="none" normalizeH="0" baseline="0" dirty="0">
                <a:ln>
                  <a:noFill/>
                </a:ln>
                <a:effectLst/>
                <a:latin typeface="Bahnschrift" panose="020B0502040204020203" pitchFamily="34" charset="0"/>
              </a:rPr>
              <a:t> Presencia de certificados SSL expirados, uso de HTTP en lugar de HTTPS, o archivos de configuración con llaves maestras en texto plano.</a:t>
            </a:r>
          </a:p>
          <a:p>
            <a:pPr marL="0" marR="0" lvl="0" indent="0" defTabSz="914400" rtl="0" eaLnBrk="0" fontAlgn="base" latinLnBrk="0" hangingPunct="0">
              <a:spcBef>
                <a:spcPct val="0"/>
              </a:spcBef>
              <a:spcAft>
                <a:spcPts val="600"/>
              </a:spcAft>
              <a:buClrTx/>
              <a:buSzTx/>
              <a:buFontTx/>
              <a:buChar char="•"/>
              <a:tabLst/>
            </a:pPr>
            <a:endParaRPr kumimoji="0" lang="es-MX" altLang="es-MX" sz="1900" b="0" i="0" u="none" strike="noStrike" cap="none" normalizeH="0" baseline="0" dirty="0">
              <a:ln>
                <a:noFill/>
              </a:ln>
              <a:effectLst/>
              <a:latin typeface="Bahnschrift" panose="020B0502040204020203" pitchFamily="34" charset="0"/>
            </a:endParaRPr>
          </a:p>
          <a:p>
            <a:pPr marL="0" marR="0" lvl="0" indent="0" defTabSz="914400" rtl="0" eaLnBrk="0" fontAlgn="base" latinLnBrk="0" hangingPunct="0">
              <a:spcBef>
                <a:spcPct val="0"/>
              </a:spcBef>
              <a:spcAft>
                <a:spcPts val="600"/>
              </a:spcAft>
              <a:buClrTx/>
              <a:buSzTx/>
              <a:buFontTx/>
              <a:buChar char="•"/>
              <a:tabLst/>
            </a:pPr>
            <a:r>
              <a:rPr kumimoji="0" lang="es-MX" altLang="es-MX" sz="1900" b="1" i="0" u="none" strike="noStrike" cap="none" normalizeH="0" baseline="0" dirty="0">
                <a:ln>
                  <a:noFill/>
                </a:ln>
                <a:effectLst/>
                <a:latin typeface="Bahnschrift" panose="020B0502040204020203" pitchFamily="34" charset="0"/>
              </a:rPr>
              <a:t>Patrones vulnerables:</a:t>
            </a:r>
            <a:r>
              <a:rPr kumimoji="0" lang="es-MX" altLang="es-MX" sz="1900" b="0" i="0" u="none" strike="noStrike" cap="none" normalizeH="0" baseline="0" dirty="0">
                <a:ln>
                  <a:noFill/>
                </a:ln>
                <a:effectLst/>
                <a:latin typeface="Bahnschrift" panose="020B0502040204020203" pitchFamily="34" charset="0"/>
              </a:rPr>
              <a:t> hash("md5", $</a:t>
            </a:r>
            <a:r>
              <a:rPr kumimoji="0" lang="es-MX" altLang="es-MX" sz="1900" b="0" i="0" u="none" strike="noStrike" cap="none" normalizeH="0" baseline="0" dirty="0" err="1">
                <a:ln>
                  <a:noFill/>
                </a:ln>
                <a:effectLst/>
                <a:latin typeface="Bahnschrift" panose="020B0502040204020203" pitchFamily="34" charset="0"/>
              </a:rPr>
              <a:t>password</a:t>
            </a:r>
            <a:r>
              <a:rPr kumimoji="0" lang="es-MX" altLang="es-MX" sz="1900" b="0" i="0" u="none" strike="noStrike" cap="none" normalizeH="0" baseline="0" dirty="0">
                <a:ln>
                  <a:noFill/>
                </a:ln>
                <a:effectLst/>
                <a:latin typeface="Bahnschrift" panose="020B0502040204020203" pitchFamily="34" charset="0"/>
              </a:rPr>
              <a:t>), uso de ECB </a:t>
            </a:r>
            <a:r>
              <a:rPr kumimoji="0" lang="es-MX" altLang="es-MX" sz="1900" b="0" i="0" u="none" strike="noStrike" cap="none" normalizeH="0" baseline="0" dirty="0" err="1">
                <a:ln>
                  <a:noFill/>
                </a:ln>
                <a:effectLst/>
                <a:latin typeface="Bahnschrift" panose="020B0502040204020203" pitchFamily="34" charset="0"/>
              </a:rPr>
              <a:t>mode</a:t>
            </a:r>
            <a:r>
              <a:rPr kumimoji="0" lang="es-MX" altLang="es-MX" sz="1900" b="0" i="0" u="none" strike="noStrike" cap="none" normalizeH="0" baseline="0" dirty="0">
                <a:ln>
                  <a:noFill/>
                </a:ln>
                <a:effectLst/>
                <a:latin typeface="Bahnschrift" panose="020B0502040204020203" pitchFamily="34" charset="0"/>
              </a:rPr>
              <a:t> en cifrado de bloques (que preserva patrones visuales), o falta de la directiva HSTS.</a:t>
            </a:r>
          </a:p>
          <a:p>
            <a:pPr marL="0" marR="0" lvl="0" indent="0" defTabSz="914400" rtl="0" eaLnBrk="0" fontAlgn="base" latinLnBrk="0" hangingPunct="0">
              <a:spcBef>
                <a:spcPct val="0"/>
              </a:spcBef>
              <a:spcAft>
                <a:spcPts val="600"/>
              </a:spcAft>
              <a:buClrTx/>
              <a:buSzTx/>
              <a:buFontTx/>
              <a:buChar char="•"/>
              <a:tabLst/>
            </a:pPr>
            <a:endParaRPr kumimoji="0" lang="es-MX" altLang="es-MX" sz="1900" b="0" i="0" u="none" strike="noStrike" cap="none" normalizeH="0" baseline="0" dirty="0">
              <a:ln>
                <a:noFill/>
              </a:ln>
              <a:effectLst/>
              <a:latin typeface="Bahnschrift" panose="020B0502040204020203" pitchFamily="34" charset="0"/>
            </a:endParaRPr>
          </a:p>
        </p:txBody>
      </p:sp>
      <p:sp>
        <p:nvSpPr>
          <p:cNvPr id="3" name="TextBox 2">
            <a:extLst>
              <a:ext uri="{FF2B5EF4-FFF2-40B4-BE49-F238E27FC236}">
                <a16:creationId xmlns:a16="http://schemas.microsoft.com/office/drawing/2014/main" id="{C35D0FE3-C34D-6CC3-596C-D30CC4F224C6}"/>
              </a:ext>
            </a:extLst>
          </p:cNvPr>
          <p:cNvSpPr txBox="1"/>
          <p:nvPr/>
        </p:nvSpPr>
        <p:spPr>
          <a:xfrm>
            <a:off x="11872682" y="6488668"/>
            <a:ext cx="319318" cy="369332"/>
          </a:xfrm>
          <a:prstGeom prst="rect">
            <a:avLst/>
          </a:prstGeom>
          <a:noFill/>
        </p:spPr>
        <p:txBody>
          <a:bodyPr wrap="none" rtlCol="0">
            <a:spAutoFit/>
          </a:bodyPr>
          <a:lstStyle/>
          <a:p>
            <a:pPr>
              <a:spcAft>
                <a:spcPts val="600"/>
              </a:spcAft>
            </a:pPr>
            <a:r>
              <a:rPr lang="es-MX" dirty="0"/>
              <a:t>3</a:t>
            </a:r>
            <a:endParaRPr lang="en-US"/>
          </a:p>
        </p:txBody>
      </p:sp>
    </p:spTree>
    <p:extLst>
      <p:ext uri="{BB962C8B-B14F-4D97-AF65-F5344CB8AC3E}">
        <p14:creationId xmlns:p14="http://schemas.microsoft.com/office/powerpoint/2010/main" val="2609448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087" name="Rectangle 3086">
            <a:extLst>
              <a:ext uri="{FF2B5EF4-FFF2-40B4-BE49-F238E27FC236}">
                <a16:creationId xmlns:a16="http://schemas.microsoft.com/office/drawing/2014/main" id="{961D8973-EAA9-459A-AF59-BBB4233D6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9776B5D-14E6-5FCF-EDCC-5C6D18FC5BDF}"/>
              </a:ext>
            </a:extLst>
          </p:cNvPr>
          <p:cNvSpPr>
            <a:spLocks noGrp="1"/>
          </p:cNvSpPr>
          <p:nvPr>
            <p:ph type="title"/>
          </p:nvPr>
        </p:nvSpPr>
        <p:spPr>
          <a:xfrm>
            <a:off x="784743" y="685800"/>
            <a:ext cx="5793475" cy="1485900"/>
          </a:xfrm>
        </p:spPr>
        <p:txBody>
          <a:bodyPr>
            <a:normAutofit/>
          </a:bodyPr>
          <a:lstStyle/>
          <a:p>
            <a:r>
              <a:rPr lang="es-MX">
                <a:latin typeface="Bahnschrift" panose="020B0502040204020203" pitchFamily="34" charset="0"/>
              </a:rPr>
              <a:t>Vector de Ataque</a:t>
            </a:r>
          </a:p>
        </p:txBody>
      </p:sp>
      <p:sp>
        <p:nvSpPr>
          <p:cNvPr id="4" name="Rectangle 1">
            <a:extLst>
              <a:ext uri="{FF2B5EF4-FFF2-40B4-BE49-F238E27FC236}">
                <a16:creationId xmlns:a16="http://schemas.microsoft.com/office/drawing/2014/main" id="{64C1BE0E-B6F7-75FC-2F35-781859EABAAE}"/>
              </a:ext>
            </a:extLst>
          </p:cNvPr>
          <p:cNvSpPr>
            <a:spLocks noGrp="1" noChangeArrowheads="1"/>
          </p:cNvSpPr>
          <p:nvPr>
            <p:ph idx="1"/>
          </p:nvPr>
        </p:nvSpPr>
        <p:spPr bwMode="auto">
          <a:xfrm>
            <a:off x="784743" y="2316480"/>
            <a:ext cx="5793475" cy="358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s-MX" altLang="es-MX" sz="1700" b="1" i="0" u="none" strike="noStrike" cap="none" normalizeH="0" baseline="0">
                <a:ln>
                  <a:noFill/>
                </a:ln>
                <a:effectLst/>
                <a:latin typeface="Bahnschrift" panose="020B0502040204020203" pitchFamily="34" charset="0"/>
              </a:rPr>
              <a:t>Cómo se explota:</a:t>
            </a:r>
            <a:r>
              <a:rPr kumimoji="0" lang="es-MX" altLang="es-MX" sz="1700" b="0" i="0" u="none" strike="noStrike" cap="none" normalizeH="0" baseline="0">
                <a:ln>
                  <a:noFill/>
                </a:ln>
                <a:effectLst/>
                <a:latin typeface="Bahnschrift" panose="020B0502040204020203" pitchFamily="34" charset="0"/>
              </a:rPr>
              <a:t> El atacante suele realizar un </a:t>
            </a:r>
            <a:r>
              <a:rPr kumimoji="0" lang="es-MX" altLang="es-MX" sz="1700" b="1" i="0" u="none" strike="noStrike" cap="none" normalizeH="0" baseline="0">
                <a:ln>
                  <a:noFill/>
                </a:ln>
                <a:effectLst/>
                <a:latin typeface="Bahnschrift" panose="020B0502040204020203" pitchFamily="34" charset="0"/>
              </a:rPr>
              <a:t>Man-in-the-Middle (MitM)</a:t>
            </a:r>
            <a:r>
              <a:rPr kumimoji="0" lang="es-MX" altLang="es-MX" sz="1700" b="0" i="0" u="none" strike="noStrike" cap="none" normalizeH="0" baseline="0">
                <a:ln>
                  <a:noFill/>
                </a:ln>
                <a:effectLst/>
                <a:latin typeface="Bahnschrift" panose="020B0502040204020203" pitchFamily="34" charset="0"/>
              </a:rPr>
              <a:t> para interceptar datos en tránsito o accede a copias de seguridad de la BD para romper hashes débiles mediante ataques de diccionario o Rainbow Tables.</a:t>
            </a:r>
          </a:p>
          <a:p>
            <a:pPr marL="0" marR="0" lvl="0" indent="0" defTabSz="914400" rtl="0" eaLnBrk="0" fontAlgn="base" latinLnBrk="0" hangingPunct="0">
              <a:spcBef>
                <a:spcPct val="0"/>
              </a:spcBef>
              <a:spcAft>
                <a:spcPts val="600"/>
              </a:spcAft>
              <a:buClrTx/>
              <a:buSzTx/>
              <a:buFontTx/>
              <a:buChar char="•"/>
              <a:tabLst/>
            </a:pPr>
            <a:endParaRPr kumimoji="0" lang="es-MX" altLang="es-MX" sz="1700" b="0" i="0" u="none" strike="noStrike" cap="none" normalizeH="0" baseline="0">
              <a:ln>
                <a:noFill/>
              </a:ln>
              <a:effectLst/>
              <a:latin typeface="Bahnschrift" panose="020B0502040204020203" pitchFamily="34" charset="0"/>
            </a:endParaRPr>
          </a:p>
          <a:p>
            <a:pPr marL="0" marR="0" lvl="0" indent="0" defTabSz="914400" rtl="0" eaLnBrk="0" fontAlgn="base" latinLnBrk="0" hangingPunct="0">
              <a:spcBef>
                <a:spcPct val="0"/>
              </a:spcBef>
              <a:spcAft>
                <a:spcPts val="600"/>
              </a:spcAft>
              <a:buClrTx/>
              <a:buSzTx/>
              <a:buFontTx/>
              <a:buChar char="•"/>
              <a:tabLst/>
            </a:pPr>
            <a:r>
              <a:rPr kumimoji="0" lang="es-MX" altLang="es-MX" sz="1700" b="1" i="0" u="none" strike="noStrike" cap="none" normalizeH="0" baseline="0">
                <a:ln>
                  <a:noFill/>
                </a:ln>
                <a:effectLst/>
                <a:latin typeface="Bahnschrift" panose="020B0502040204020203" pitchFamily="34" charset="0"/>
              </a:rPr>
              <a:t>Requerimientos:</a:t>
            </a:r>
            <a:r>
              <a:rPr kumimoji="0" lang="es-MX" altLang="es-MX" sz="1700" b="0" i="0" u="none" strike="noStrike" cap="none" normalizeH="0" baseline="0">
                <a:ln>
                  <a:noFill/>
                </a:ln>
                <a:effectLst/>
                <a:latin typeface="Bahnschrift" panose="020B0502040204020203" pitchFamily="34" charset="0"/>
              </a:rPr>
              <a:t> Puede ser acceso público (red Wi-Fi abierta) o acceso local al servidor de archivos.</a:t>
            </a:r>
          </a:p>
          <a:p>
            <a:pPr marL="0" marR="0" lvl="0" indent="0" defTabSz="914400" rtl="0" eaLnBrk="0" fontAlgn="base" latinLnBrk="0" hangingPunct="0">
              <a:spcBef>
                <a:spcPct val="0"/>
              </a:spcBef>
              <a:spcAft>
                <a:spcPts val="600"/>
              </a:spcAft>
              <a:buClrTx/>
              <a:buSzTx/>
              <a:buFontTx/>
              <a:buChar char="•"/>
              <a:tabLst/>
            </a:pPr>
            <a:endParaRPr kumimoji="0" lang="es-MX" altLang="es-MX" sz="1700" b="0" i="0" u="none" strike="noStrike" cap="none" normalizeH="0" baseline="0">
              <a:ln>
                <a:noFill/>
              </a:ln>
              <a:effectLst/>
              <a:latin typeface="Bahnschrift" panose="020B0502040204020203" pitchFamily="34" charset="0"/>
            </a:endParaRPr>
          </a:p>
          <a:p>
            <a:pPr marL="0" marR="0" lvl="0" indent="0" defTabSz="914400" rtl="0" eaLnBrk="0" fontAlgn="base" latinLnBrk="0" hangingPunct="0">
              <a:spcBef>
                <a:spcPct val="0"/>
              </a:spcBef>
              <a:spcAft>
                <a:spcPts val="600"/>
              </a:spcAft>
              <a:buClrTx/>
              <a:buSzTx/>
              <a:buFontTx/>
              <a:buChar char="•"/>
              <a:tabLst/>
            </a:pPr>
            <a:r>
              <a:rPr kumimoji="0" lang="es-MX" altLang="es-MX" sz="1700" b="1" i="0" u="none" strike="noStrike" cap="none" normalizeH="0" baseline="0">
                <a:ln>
                  <a:noFill/>
                </a:ln>
                <a:effectLst/>
                <a:latin typeface="Bahnschrift" panose="020B0502040204020203" pitchFamily="34" charset="0"/>
              </a:rPr>
              <a:t>Nivel técnico:</a:t>
            </a:r>
            <a:r>
              <a:rPr kumimoji="0" lang="es-MX" altLang="es-MX" sz="1700" b="0" i="0" u="none" strike="noStrike" cap="none" normalizeH="0" baseline="0">
                <a:ln>
                  <a:noFill/>
                </a:ln>
                <a:effectLst/>
                <a:latin typeface="Bahnschrift" panose="020B0502040204020203" pitchFamily="34" charset="0"/>
              </a:rPr>
              <a:t> De Medio a Alto (dependiendo de si el algoritmo tiene vulnerabilidades conocidas como </a:t>
            </a:r>
            <a:r>
              <a:rPr kumimoji="0" lang="es-MX" altLang="es-MX" sz="1700" b="0" i="1" u="none" strike="noStrike" cap="none" normalizeH="0" baseline="0">
                <a:ln>
                  <a:noFill/>
                </a:ln>
                <a:effectLst/>
                <a:latin typeface="Bahnschrift" panose="020B0502040204020203" pitchFamily="34" charset="0"/>
              </a:rPr>
              <a:t>Padding Oracle attacks</a:t>
            </a:r>
            <a:r>
              <a:rPr kumimoji="0" lang="es-MX" altLang="es-MX" sz="1700" b="0" i="0" u="none" strike="noStrike" cap="none" normalizeH="0" baseline="0">
                <a:ln>
                  <a:noFill/>
                </a:ln>
                <a:effectLst/>
                <a:latin typeface="Bahnschrift" panose="020B0502040204020203" pitchFamily="34" charset="0"/>
              </a:rPr>
              <a:t>).</a:t>
            </a:r>
          </a:p>
        </p:txBody>
      </p:sp>
      <p:sp>
        <p:nvSpPr>
          <p:cNvPr id="3089" name="Rectangle 3088">
            <a:extLst>
              <a:ext uri="{FF2B5EF4-FFF2-40B4-BE49-F238E27FC236}">
                <a16:creationId xmlns:a16="http://schemas.microsoft.com/office/drawing/2014/main" id="{FBEA8A33-C0D0-416D-8359-724B8828C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075" name="Picture 3" descr="MITM attack. Man in the middle cyberattack, active eavesdropping example and unprivate online communication vector Illustration MITM attack. Man in the middle cyberattack, active eavesdropping example and unprivate online communication vector Illustration of mitm attack security man-in-the-middle-attack stock illustrations">
            <a:extLst>
              <a:ext uri="{FF2B5EF4-FFF2-40B4-BE49-F238E27FC236}">
                <a16:creationId xmlns:a16="http://schemas.microsoft.com/office/drawing/2014/main" id="{AAD5831B-2E9F-038E-EEB2-5103DE117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247" r="32699" b="1"/>
          <a:stretch>
            <a:fillRect/>
          </a:stretch>
        </p:blipFill>
        <p:spPr bwMode="auto">
          <a:xfrm>
            <a:off x="7612260" y="10"/>
            <a:ext cx="4579739"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4668816-0F0D-694A-2A94-DBAF7C415021}"/>
              </a:ext>
            </a:extLst>
          </p:cNvPr>
          <p:cNvSpPr txBox="1"/>
          <p:nvPr/>
        </p:nvSpPr>
        <p:spPr>
          <a:xfrm>
            <a:off x="11872682" y="6488668"/>
            <a:ext cx="319318" cy="369332"/>
          </a:xfrm>
          <a:prstGeom prst="rect">
            <a:avLst/>
          </a:prstGeom>
          <a:noFill/>
        </p:spPr>
        <p:txBody>
          <a:bodyPr wrap="none" rtlCol="0">
            <a:spAutoFit/>
          </a:bodyPr>
          <a:lstStyle/>
          <a:p>
            <a:pPr>
              <a:spcAft>
                <a:spcPts val="600"/>
              </a:spcAft>
            </a:pPr>
            <a:r>
              <a:rPr lang="es-MX" dirty="0"/>
              <a:t>4</a:t>
            </a:r>
            <a:endParaRPr lang="en-US" dirty="0"/>
          </a:p>
        </p:txBody>
      </p:sp>
    </p:spTree>
    <p:extLst>
      <p:ext uri="{BB962C8B-B14F-4D97-AF65-F5344CB8AC3E}">
        <p14:creationId xmlns:p14="http://schemas.microsoft.com/office/powerpoint/2010/main" val="2966185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099" name="Picture 3" descr="signo de bloqueo en el fondo de la cpu digital. ciberseguridad: protección de redes y datos.  conceptos de violación de datos. - ciberseguridad fotografías e imágenes de stock">
            <a:extLst>
              <a:ext uri="{FF2B5EF4-FFF2-40B4-BE49-F238E27FC236}">
                <a16:creationId xmlns:a16="http://schemas.microsoft.com/office/drawing/2014/main" id="{D4BF82AD-A9BF-4B26-D0C0-D4F0CBFC5C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
          <a:stretch>
            <a:fillRect/>
          </a:stretch>
        </p:blipFill>
        <p:spPr bwMode="auto">
          <a:xfrm>
            <a:off x="-1" y="10"/>
            <a:ext cx="12188652"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4" name="Rectangle 4103">
            <a:extLst>
              <a:ext uri="{FF2B5EF4-FFF2-40B4-BE49-F238E27FC236}">
                <a16:creationId xmlns:a16="http://schemas.microsoft.com/office/drawing/2014/main" id="{BC46CD03-D076-40A3-9AA4-2B7BB288B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 y="0"/>
            <a:ext cx="12192000" cy="6858000"/>
          </a:xfrm>
          <a:prstGeom prst="rect">
            <a:avLst/>
          </a:prstGeom>
          <a:gradFill flip="none" rotWithShape="1">
            <a:gsLst>
              <a:gs pos="30000">
                <a:schemeClr val="bg2">
                  <a:alpha val="75000"/>
                </a:schemeClr>
              </a:gs>
              <a:gs pos="100000">
                <a:schemeClr val="bg2"/>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71DFF4F-455C-3DD9-98C8-11943AD91138}"/>
              </a:ext>
            </a:extLst>
          </p:cNvPr>
          <p:cNvSpPr>
            <a:spLocks noGrp="1"/>
          </p:cNvSpPr>
          <p:nvPr>
            <p:ph type="title"/>
          </p:nvPr>
        </p:nvSpPr>
        <p:spPr>
          <a:xfrm>
            <a:off x="1371600" y="685800"/>
            <a:ext cx="9601200" cy="1485900"/>
          </a:xfrm>
        </p:spPr>
        <p:txBody>
          <a:bodyPr>
            <a:normAutofit/>
          </a:bodyPr>
          <a:lstStyle/>
          <a:p>
            <a:r>
              <a:rPr lang="es-MX" b="1">
                <a:latin typeface="Bahnschrift" panose="020B0502040204020203" pitchFamily="34" charset="0"/>
              </a:rPr>
              <a:t>Impacto (Crítico / Alto)</a:t>
            </a:r>
            <a:br>
              <a:rPr lang="es-MX" b="1">
                <a:latin typeface="Bahnschrift" panose="020B0502040204020203" pitchFamily="34" charset="0"/>
              </a:rPr>
            </a:br>
            <a:endParaRPr lang="es-MX">
              <a:latin typeface="Bahnschrift" panose="020B0502040204020203" pitchFamily="34" charset="0"/>
            </a:endParaRPr>
          </a:p>
        </p:txBody>
      </p:sp>
      <p:sp>
        <p:nvSpPr>
          <p:cNvPr id="4106" name="Rectangle 4105">
            <a:extLst>
              <a:ext uri="{FF2B5EF4-FFF2-40B4-BE49-F238E27FC236}">
                <a16:creationId xmlns:a16="http://schemas.microsoft.com/office/drawing/2014/main" id="{88D28697-83F7-4C09-A9B2-6CAA588556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Rectangle 1">
            <a:extLst>
              <a:ext uri="{FF2B5EF4-FFF2-40B4-BE49-F238E27FC236}">
                <a16:creationId xmlns:a16="http://schemas.microsoft.com/office/drawing/2014/main" id="{7283B827-0D0D-48EB-A21B-3C45DAD9BA3E}"/>
              </a:ext>
            </a:extLst>
          </p:cNvPr>
          <p:cNvSpPr>
            <a:spLocks noGrp="1" noChangeArrowheads="1"/>
          </p:cNvSpPr>
          <p:nvPr>
            <p:ph idx="1"/>
          </p:nvPr>
        </p:nvSpPr>
        <p:spPr bwMode="auto">
          <a:xfrm>
            <a:off x="1371600" y="2286000"/>
            <a:ext cx="9601200" cy="358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s-MX" altLang="es-MX" b="1" i="0" u="none" strike="noStrike" cap="none" normalizeH="0" baseline="0">
                <a:ln>
                  <a:noFill/>
                </a:ln>
                <a:effectLst/>
                <a:latin typeface="Bahnschrift" panose="020B0502040204020203" pitchFamily="34" charset="0"/>
              </a:rPr>
              <a:t>Confidencialidad:</a:t>
            </a:r>
            <a:r>
              <a:rPr kumimoji="0" lang="es-MX" altLang="es-MX" b="0" i="0" u="none" strike="noStrike" cap="none" normalizeH="0" baseline="0">
                <a:ln>
                  <a:noFill/>
                </a:ln>
                <a:effectLst/>
                <a:latin typeface="Bahnschrift" panose="020B0502040204020203" pitchFamily="34" charset="0"/>
              </a:rPr>
              <a:t> Crítico (exposición de secretos de estado, médicos o bancarios).</a:t>
            </a:r>
          </a:p>
          <a:p>
            <a:pPr marL="0" marR="0" lvl="0" indent="0" defTabSz="914400" rtl="0" eaLnBrk="0" fontAlgn="base" latinLnBrk="0" hangingPunct="0">
              <a:spcBef>
                <a:spcPct val="0"/>
              </a:spcBef>
              <a:spcAft>
                <a:spcPts val="600"/>
              </a:spcAft>
              <a:buClrTx/>
              <a:buSzTx/>
              <a:buFontTx/>
              <a:buChar char="•"/>
              <a:tabLst/>
            </a:pPr>
            <a:endParaRPr kumimoji="0" lang="es-MX" altLang="es-MX" b="0" i="0" u="none" strike="noStrike" cap="none" normalizeH="0" baseline="0">
              <a:ln>
                <a:noFill/>
              </a:ln>
              <a:effectLst/>
              <a:latin typeface="Bahnschrift" panose="020B0502040204020203" pitchFamily="34" charset="0"/>
            </a:endParaRPr>
          </a:p>
          <a:p>
            <a:pPr marL="0" marR="0" lvl="0" indent="0" defTabSz="914400" rtl="0" eaLnBrk="0" fontAlgn="base" latinLnBrk="0" hangingPunct="0">
              <a:spcBef>
                <a:spcPct val="0"/>
              </a:spcBef>
              <a:spcAft>
                <a:spcPts val="600"/>
              </a:spcAft>
              <a:buClrTx/>
              <a:buSzTx/>
              <a:buFontTx/>
              <a:buChar char="•"/>
              <a:tabLst/>
            </a:pPr>
            <a:r>
              <a:rPr kumimoji="0" lang="es-MX" altLang="es-MX" b="1" i="0" u="none" strike="noStrike" cap="none" normalizeH="0" baseline="0">
                <a:ln>
                  <a:noFill/>
                </a:ln>
                <a:effectLst/>
                <a:latin typeface="Bahnschrift" panose="020B0502040204020203" pitchFamily="34" charset="0"/>
              </a:rPr>
              <a:t>Integridad:</a:t>
            </a:r>
            <a:r>
              <a:rPr kumimoji="0" lang="es-MX" altLang="es-MX" b="0" i="0" u="none" strike="noStrike" cap="none" normalizeH="0" baseline="0">
                <a:ln>
                  <a:noFill/>
                </a:ln>
                <a:effectLst/>
                <a:latin typeface="Bahnschrift" panose="020B0502040204020203" pitchFamily="34" charset="0"/>
              </a:rPr>
              <a:t> Alto (posibilidad de modificar transacciones si no hay firmas digitales).</a:t>
            </a:r>
          </a:p>
          <a:p>
            <a:pPr marL="0" marR="0" lvl="0" indent="0" defTabSz="914400" rtl="0" eaLnBrk="0" fontAlgn="base" latinLnBrk="0" hangingPunct="0">
              <a:spcBef>
                <a:spcPct val="0"/>
              </a:spcBef>
              <a:spcAft>
                <a:spcPts val="600"/>
              </a:spcAft>
              <a:buClrTx/>
              <a:buSzTx/>
              <a:buFontTx/>
              <a:buChar char="•"/>
              <a:tabLst/>
            </a:pPr>
            <a:endParaRPr kumimoji="0" lang="es-MX" altLang="es-MX" b="0" i="0" u="none" strike="noStrike" cap="none" normalizeH="0" baseline="0">
              <a:ln>
                <a:noFill/>
              </a:ln>
              <a:effectLst/>
              <a:latin typeface="Bahnschrift" panose="020B0502040204020203" pitchFamily="34" charset="0"/>
            </a:endParaRPr>
          </a:p>
          <a:p>
            <a:pPr marL="0" marR="0" lvl="0" indent="0" defTabSz="914400" rtl="0" eaLnBrk="0" fontAlgn="base" latinLnBrk="0" hangingPunct="0">
              <a:spcBef>
                <a:spcPct val="0"/>
              </a:spcBef>
              <a:spcAft>
                <a:spcPts val="600"/>
              </a:spcAft>
              <a:buClrTx/>
              <a:buSzTx/>
              <a:buFontTx/>
              <a:buChar char="•"/>
              <a:tabLst/>
            </a:pPr>
            <a:r>
              <a:rPr kumimoji="0" lang="es-MX" altLang="es-MX" b="1" i="0" u="none" strike="noStrike" cap="none" normalizeH="0" baseline="0">
                <a:ln>
                  <a:noFill/>
                </a:ln>
                <a:effectLst/>
                <a:latin typeface="Bahnschrift" panose="020B0502040204020203" pitchFamily="34" charset="0"/>
              </a:rPr>
              <a:t>Reputacional:</a:t>
            </a:r>
            <a:r>
              <a:rPr kumimoji="0" lang="es-MX" altLang="es-MX" b="0" i="0" u="none" strike="noStrike" cap="none" normalizeH="0" baseline="0">
                <a:ln>
                  <a:noFill/>
                </a:ln>
                <a:effectLst/>
                <a:latin typeface="Bahnschrift" panose="020B0502040204020203" pitchFamily="34" charset="0"/>
              </a:rPr>
              <a:t> Pérdida total de confianza; los usuarios no regresan a una plataforma que "regaló" sus datos.</a:t>
            </a:r>
          </a:p>
        </p:txBody>
      </p:sp>
      <p:sp>
        <p:nvSpPr>
          <p:cNvPr id="3" name="TextBox 2">
            <a:extLst>
              <a:ext uri="{FF2B5EF4-FFF2-40B4-BE49-F238E27FC236}">
                <a16:creationId xmlns:a16="http://schemas.microsoft.com/office/drawing/2014/main" id="{04FB107A-B638-C1C9-D8BB-37F161A6BCF5}"/>
              </a:ext>
            </a:extLst>
          </p:cNvPr>
          <p:cNvSpPr txBox="1"/>
          <p:nvPr/>
        </p:nvSpPr>
        <p:spPr>
          <a:xfrm>
            <a:off x="11872682" y="6488668"/>
            <a:ext cx="319318" cy="369332"/>
          </a:xfrm>
          <a:prstGeom prst="rect">
            <a:avLst/>
          </a:prstGeom>
          <a:noFill/>
        </p:spPr>
        <p:txBody>
          <a:bodyPr wrap="none" rtlCol="0">
            <a:spAutoFit/>
          </a:bodyPr>
          <a:lstStyle/>
          <a:p>
            <a:pPr>
              <a:spcAft>
                <a:spcPts val="600"/>
              </a:spcAft>
            </a:pPr>
            <a:r>
              <a:rPr lang="es-MX" dirty="0"/>
              <a:t>5</a:t>
            </a:r>
            <a:endParaRPr lang="en-US" dirty="0"/>
          </a:p>
        </p:txBody>
      </p:sp>
    </p:spTree>
    <p:extLst>
      <p:ext uri="{BB962C8B-B14F-4D97-AF65-F5344CB8AC3E}">
        <p14:creationId xmlns:p14="http://schemas.microsoft.com/office/powerpoint/2010/main" val="1600843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67" name="Rectangle 2066">
            <a:extLst>
              <a:ext uri="{FF2B5EF4-FFF2-40B4-BE49-F238E27FC236}">
                <a16:creationId xmlns:a16="http://schemas.microsoft.com/office/drawing/2014/main" id="{825E602A-53EB-4CB1-9633-3EC058740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E85534B-E848-57FF-EDAC-34FE02F7BDF0}"/>
              </a:ext>
            </a:extLst>
          </p:cNvPr>
          <p:cNvSpPr>
            <a:spLocks noGrp="1"/>
          </p:cNvSpPr>
          <p:nvPr>
            <p:ph type="title"/>
          </p:nvPr>
        </p:nvSpPr>
        <p:spPr>
          <a:xfrm>
            <a:off x="4497632" y="554928"/>
            <a:ext cx="7197212" cy="690716"/>
          </a:xfrm>
        </p:spPr>
        <p:txBody>
          <a:bodyPr>
            <a:normAutofit/>
          </a:bodyPr>
          <a:lstStyle/>
          <a:p>
            <a:r>
              <a:rPr lang="es-MX" sz="4000" dirty="0" err="1">
                <a:latin typeface="Bahnschrift" panose="020B0502040204020203" pitchFamily="34" charset="0"/>
              </a:rPr>
              <a:t>DigiNotar</a:t>
            </a:r>
            <a:r>
              <a:rPr lang="es-MX" sz="4000" dirty="0">
                <a:latin typeface="Bahnschrift" panose="020B0502040204020203" pitchFamily="34" charset="0"/>
              </a:rPr>
              <a:t> (La "Muerte Digital")</a:t>
            </a:r>
          </a:p>
        </p:txBody>
      </p:sp>
      <p:pic>
        <p:nvPicPr>
          <p:cNvPr id="2050" name="Picture 2" descr="DigiNotar - Wikipedia">
            <a:extLst>
              <a:ext uri="{FF2B5EF4-FFF2-40B4-BE49-F238E27FC236}">
                <a16:creationId xmlns:a16="http://schemas.microsoft.com/office/drawing/2014/main" id="{C93A021D-63C7-898A-3BA4-34FBF4F884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38491" y="900286"/>
            <a:ext cx="2420654" cy="755244"/>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23990B47-A056-052F-3E1C-306875A674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38489" y="2439464"/>
            <a:ext cx="2420655" cy="514389"/>
          </a:xfrm>
          <a:prstGeom prst="rect">
            <a:avLst/>
          </a:prstGeom>
          <a:noFill/>
          <a:ln>
            <a:noFill/>
          </a:ln>
          <a:effectLst/>
          <a:extLst>
            <a:ext uri="{909E8E84-426E-40DD-AFC4-6F175D3DCCD1}">
              <a14:hiddenFill xmlns:a14="http://schemas.microsoft.com/office/drawing/2010/main">
                <a:solidFill>
                  <a:srgbClr val="FFFFFF"/>
                </a:solidFill>
              </a14:hiddenFill>
            </a:ext>
          </a:extLst>
        </p:spPr>
      </p:pic>
      <p:pic>
        <p:nvPicPr>
          <p:cNvPr id="2054" name="Picture 6" descr="CIA">
            <a:extLst>
              <a:ext uri="{FF2B5EF4-FFF2-40B4-BE49-F238E27FC236}">
                <a16:creationId xmlns:a16="http://schemas.microsoft.com/office/drawing/2014/main" id="{3AAD40F0-9691-3D22-029F-6E19863D29F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597875" y="3480968"/>
            <a:ext cx="1301882" cy="130188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oogle - Wikipedia, la enciclopedia libre">
            <a:extLst>
              <a:ext uri="{FF2B5EF4-FFF2-40B4-BE49-F238E27FC236}">
                <a16:creationId xmlns:a16="http://schemas.microsoft.com/office/drawing/2014/main" id="{46498283-CE5E-1653-BC26-0AD68DB41591}"/>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038489" y="5162847"/>
            <a:ext cx="2420656" cy="821555"/>
          </a:xfrm>
          <a:prstGeom prst="rect">
            <a:avLst/>
          </a:prstGeom>
          <a:noFill/>
          <a:ln>
            <a:noFill/>
          </a:ln>
          <a:effectLst/>
          <a:extLst>
            <a:ext uri="{909E8E84-426E-40DD-AFC4-6F175D3DCCD1}">
              <a14:hiddenFill xmlns:a14="http://schemas.microsoft.com/office/drawing/2010/main">
                <a:solidFill>
                  <a:srgbClr val="FFFFFF"/>
                </a:solidFill>
              </a14:hiddenFill>
            </a:ext>
          </a:extLst>
        </p:spPr>
      </p:pic>
      <p:sp>
        <p:nvSpPr>
          <p:cNvPr id="2069" name="Rectangle 2068">
            <a:extLst>
              <a:ext uri="{FF2B5EF4-FFF2-40B4-BE49-F238E27FC236}">
                <a16:creationId xmlns:a16="http://schemas.microsoft.com/office/drawing/2014/main" id="{E832F3F2-2294-4A8D-ABDC-234B853C7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547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Marcador de contenido 2">
            <a:extLst>
              <a:ext uri="{FF2B5EF4-FFF2-40B4-BE49-F238E27FC236}">
                <a16:creationId xmlns:a16="http://schemas.microsoft.com/office/drawing/2014/main" id="{0FF574FF-35A4-3319-5084-C1DE06227C79}"/>
              </a:ext>
            </a:extLst>
          </p:cNvPr>
          <p:cNvSpPr txBox="1">
            <a:spLocks/>
          </p:cNvSpPr>
          <p:nvPr/>
        </p:nvSpPr>
        <p:spPr>
          <a:xfrm>
            <a:off x="4330334" y="1245644"/>
            <a:ext cx="7531808" cy="755244"/>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Franklin Gothic Book" panose="020B0503020102020204" pitchFamily="34" charset="0"/>
              <a:buNone/>
            </a:pPr>
            <a:r>
              <a:rPr lang="es-ES" sz="1600" dirty="0">
                <a:latin typeface="Bahnschrift" panose="020B0502040204020203" pitchFamily="34" charset="0"/>
              </a:rPr>
              <a:t>Un atacante comprometió la infraestructura de la Autoridad de Certificación (CA) </a:t>
            </a:r>
            <a:r>
              <a:rPr lang="es-ES" sz="1600" dirty="0" err="1">
                <a:latin typeface="Bahnschrift" panose="020B0502040204020203" pitchFamily="34" charset="0"/>
              </a:rPr>
              <a:t>DigiNotar</a:t>
            </a:r>
            <a:r>
              <a:rPr lang="es-ES" sz="1600" dirty="0">
                <a:latin typeface="Bahnschrift" panose="020B0502040204020203" pitchFamily="34" charset="0"/>
              </a:rPr>
              <a:t> y emitió </a:t>
            </a:r>
            <a:r>
              <a:rPr lang="es-ES" sz="1600" b="1" dirty="0">
                <a:latin typeface="Bahnschrift" panose="020B0502040204020203" pitchFamily="34" charset="0"/>
              </a:rPr>
              <a:t>+500 certificados SSL fraudulentos</a:t>
            </a:r>
            <a:r>
              <a:rPr lang="es-ES" sz="1600" dirty="0">
                <a:latin typeface="Bahnschrift" panose="020B0502040204020203" pitchFamily="34" charset="0"/>
              </a:rPr>
              <a:t>.</a:t>
            </a:r>
          </a:p>
        </p:txBody>
      </p:sp>
      <p:sp>
        <p:nvSpPr>
          <p:cNvPr id="5" name="Marcador de contenido 2">
            <a:extLst>
              <a:ext uri="{FF2B5EF4-FFF2-40B4-BE49-F238E27FC236}">
                <a16:creationId xmlns:a16="http://schemas.microsoft.com/office/drawing/2014/main" id="{137A70CE-6041-7892-7E64-46790E6E0064}"/>
              </a:ext>
            </a:extLst>
          </p:cNvPr>
          <p:cNvSpPr txBox="1">
            <a:spLocks/>
          </p:cNvSpPr>
          <p:nvPr/>
        </p:nvSpPr>
        <p:spPr>
          <a:xfrm>
            <a:off x="4330334" y="1838847"/>
            <a:ext cx="7531808" cy="36201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Franklin Gothic Book" panose="020B0503020102020204" pitchFamily="34" charset="0"/>
              <a:buNone/>
            </a:pPr>
            <a:r>
              <a:rPr lang="pt-BR" sz="1600" dirty="0" err="1">
                <a:latin typeface="Bahnschrift" panose="020B0502040204020203" pitchFamily="34" charset="0"/>
              </a:rPr>
              <a:t>Dominios</a:t>
            </a:r>
            <a:r>
              <a:rPr lang="pt-BR" sz="1600" dirty="0">
                <a:latin typeface="Bahnschrift" panose="020B0502040204020203" pitchFamily="34" charset="0"/>
              </a:rPr>
              <a:t> como *.google.com, *.cia.gov y *.microsoft.com </a:t>
            </a:r>
            <a:r>
              <a:rPr lang="pt-BR" sz="1600" dirty="0" err="1">
                <a:latin typeface="Bahnschrift" panose="020B0502040204020203" pitchFamily="34" charset="0"/>
              </a:rPr>
              <a:t>fueron</a:t>
            </a:r>
            <a:r>
              <a:rPr lang="pt-BR" sz="1600" dirty="0">
                <a:latin typeface="Bahnschrift" panose="020B0502040204020203" pitchFamily="34" charset="0"/>
              </a:rPr>
              <a:t> comprometidos.</a:t>
            </a:r>
          </a:p>
        </p:txBody>
      </p:sp>
      <p:sp>
        <p:nvSpPr>
          <p:cNvPr id="6" name="Marcador de contenido 2">
            <a:extLst>
              <a:ext uri="{FF2B5EF4-FFF2-40B4-BE49-F238E27FC236}">
                <a16:creationId xmlns:a16="http://schemas.microsoft.com/office/drawing/2014/main" id="{FDE85C17-9729-372A-995F-C2341D1071C5}"/>
              </a:ext>
            </a:extLst>
          </p:cNvPr>
          <p:cNvSpPr txBox="1">
            <a:spLocks/>
          </p:cNvSpPr>
          <p:nvPr/>
        </p:nvSpPr>
        <p:spPr>
          <a:xfrm>
            <a:off x="4330334" y="2253600"/>
            <a:ext cx="7531808" cy="1301882"/>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Franklin Gothic Book" panose="020B0503020102020204" pitchFamily="34" charset="0"/>
              <a:buNone/>
            </a:pPr>
            <a:r>
              <a:rPr lang="es-ES" sz="1600" dirty="0">
                <a:latin typeface="Bahnschrift" panose="020B0502040204020203" pitchFamily="34" charset="0"/>
              </a:rPr>
              <a:t>El gobierno de Irán utilizó el certificado de Google para realizar un </a:t>
            </a:r>
            <a:r>
              <a:rPr lang="es-ES" sz="1600" b="1" dirty="0">
                <a:latin typeface="Bahnschrift" panose="020B0502040204020203" pitchFamily="34" charset="0"/>
              </a:rPr>
              <a:t>Man-in-</a:t>
            </a:r>
            <a:r>
              <a:rPr lang="es-ES" sz="1600" b="1" dirty="0" err="1">
                <a:latin typeface="Bahnschrift" panose="020B0502040204020203" pitchFamily="34" charset="0"/>
              </a:rPr>
              <a:t>the</a:t>
            </a:r>
            <a:r>
              <a:rPr lang="es-ES" sz="1600" b="1" dirty="0">
                <a:latin typeface="Bahnschrift" panose="020B0502040204020203" pitchFamily="34" charset="0"/>
              </a:rPr>
              <a:t>-</a:t>
            </a:r>
            <a:r>
              <a:rPr lang="es-ES" sz="1600" b="1" dirty="0" err="1">
                <a:latin typeface="Bahnschrift" panose="020B0502040204020203" pitchFamily="34" charset="0"/>
              </a:rPr>
              <a:t>Middle</a:t>
            </a:r>
            <a:r>
              <a:rPr lang="es-ES" sz="1600" b="1" dirty="0">
                <a:latin typeface="Bahnschrift" panose="020B0502040204020203" pitchFamily="34" charset="0"/>
              </a:rPr>
              <a:t> (</a:t>
            </a:r>
            <a:r>
              <a:rPr lang="es-ES" sz="1600" b="1" dirty="0" err="1">
                <a:latin typeface="Bahnschrift" panose="020B0502040204020203" pitchFamily="34" charset="0"/>
              </a:rPr>
              <a:t>MitM</a:t>
            </a:r>
            <a:r>
              <a:rPr lang="es-ES" sz="1600" b="1" dirty="0">
                <a:latin typeface="Bahnschrift" panose="020B0502040204020203" pitchFamily="34" charset="0"/>
              </a:rPr>
              <a:t>)</a:t>
            </a:r>
            <a:r>
              <a:rPr lang="es-ES" sz="1600" dirty="0">
                <a:latin typeface="Bahnschrift" panose="020B0502040204020203" pitchFamily="34" charset="0"/>
              </a:rPr>
              <a:t> masivo, interceptando las comunicaciones de más de 300,000 ciudadanos.</a:t>
            </a:r>
          </a:p>
          <a:p>
            <a:pPr marL="0" indent="0">
              <a:buFont typeface="Franklin Gothic Book" panose="020B0503020102020204" pitchFamily="34" charset="0"/>
              <a:buNone/>
            </a:pPr>
            <a:r>
              <a:rPr lang="es-ES" sz="1600" dirty="0">
                <a:latin typeface="Bahnschrift" panose="020B0502040204020203" pitchFamily="34" charset="0"/>
              </a:rPr>
              <a:t>.</a:t>
            </a:r>
            <a:endParaRPr lang="es-MX" sz="1600" dirty="0">
              <a:latin typeface="Bahnschrift" panose="020B0502040204020203" pitchFamily="34" charset="0"/>
            </a:endParaRPr>
          </a:p>
        </p:txBody>
      </p:sp>
      <p:sp>
        <p:nvSpPr>
          <p:cNvPr id="7" name="Marcador de contenido 2">
            <a:extLst>
              <a:ext uri="{FF2B5EF4-FFF2-40B4-BE49-F238E27FC236}">
                <a16:creationId xmlns:a16="http://schemas.microsoft.com/office/drawing/2014/main" id="{960E7C78-563A-EFE5-74AB-56408DBEFD8C}"/>
              </a:ext>
            </a:extLst>
          </p:cNvPr>
          <p:cNvSpPr txBox="1">
            <a:spLocks/>
          </p:cNvSpPr>
          <p:nvPr/>
        </p:nvSpPr>
        <p:spPr>
          <a:xfrm>
            <a:off x="4330334" y="3175111"/>
            <a:ext cx="7531808" cy="925292"/>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Franklin Gothic Book" panose="020B0503020102020204" pitchFamily="34" charset="0"/>
              <a:buNone/>
            </a:pPr>
            <a:r>
              <a:rPr lang="es-ES" sz="1600" dirty="0">
                <a:latin typeface="Bahnschrift" panose="020B0502040204020203" pitchFamily="34" charset="0"/>
              </a:rPr>
              <a:t>Esto significó la ruptura total de la cadena de confianza (</a:t>
            </a:r>
            <a:r>
              <a:rPr lang="es-ES" sz="1600" dirty="0" err="1">
                <a:latin typeface="Bahnschrift" panose="020B0502040204020203" pitchFamily="34" charset="0"/>
              </a:rPr>
              <a:t>Public</a:t>
            </a:r>
            <a:r>
              <a:rPr lang="es-ES" sz="1600" dirty="0">
                <a:latin typeface="Bahnschrift" panose="020B0502040204020203" pitchFamily="34" charset="0"/>
              </a:rPr>
              <a:t> Key </a:t>
            </a:r>
            <a:r>
              <a:rPr lang="es-ES" sz="1600" dirty="0" err="1">
                <a:latin typeface="Bahnschrift" panose="020B0502040204020203" pitchFamily="34" charset="0"/>
              </a:rPr>
              <a:t>Infrastructure</a:t>
            </a:r>
            <a:r>
              <a:rPr lang="es-ES" sz="1600" dirty="0">
                <a:latin typeface="Bahnschrift" panose="020B0502040204020203" pitchFamily="34" charset="0"/>
              </a:rPr>
              <a:t>). </a:t>
            </a:r>
          </a:p>
        </p:txBody>
      </p:sp>
      <p:sp>
        <p:nvSpPr>
          <p:cNvPr id="8" name="Marcador de contenido 2">
            <a:extLst>
              <a:ext uri="{FF2B5EF4-FFF2-40B4-BE49-F238E27FC236}">
                <a16:creationId xmlns:a16="http://schemas.microsoft.com/office/drawing/2014/main" id="{FE9BF281-EAC7-6B88-8346-8F7D4B05193A}"/>
              </a:ext>
            </a:extLst>
          </p:cNvPr>
          <p:cNvSpPr txBox="1">
            <a:spLocks/>
          </p:cNvSpPr>
          <p:nvPr/>
        </p:nvSpPr>
        <p:spPr>
          <a:xfrm>
            <a:off x="4330334" y="3904632"/>
            <a:ext cx="7531808" cy="65121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Franklin Gothic Book" panose="020B0503020102020204" pitchFamily="34" charset="0"/>
              <a:buNone/>
            </a:pPr>
            <a:r>
              <a:rPr lang="es-ES" sz="1600" dirty="0">
                <a:latin typeface="Bahnschrift" panose="020B0502040204020203" pitchFamily="34" charset="0"/>
              </a:rPr>
              <a:t>La criptografía no falló por la matemática, sino por el compromiso de la Llave Privada Maestra permitiendo el acceso a los secretos criptográficos raíz. </a:t>
            </a:r>
          </a:p>
        </p:txBody>
      </p:sp>
      <p:sp>
        <p:nvSpPr>
          <p:cNvPr id="9" name="Marcador de contenido 2">
            <a:extLst>
              <a:ext uri="{FF2B5EF4-FFF2-40B4-BE49-F238E27FC236}">
                <a16:creationId xmlns:a16="http://schemas.microsoft.com/office/drawing/2014/main" id="{1E0A5543-A72F-BEB6-25F7-C3386E55C1D6}"/>
              </a:ext>
            </a:extLst>
          </p:cNvPr>
          <p:cNvSpPr txBox="1">
            <a:spLocks/>
          </p:cNvSpPr>
          <p:nvPr/>
        </p:nvSpPr>
        <p:spPr>
          <a:xfrm>
            <a:off x="4330334" y="4689838"/>
            <a:ext cx="7531808" cy="1386227"/>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Franklin Gothic Book" panose="020B0503020102020204" pitchFamily="34" charset="0"/>
              <a:buNone/>
            </a:pPr>
            <a:r>
              <a:rPr lang="es-ES" sz="1600" dirty="0">
                <a:latin typeface="Bahnschrift" panose="020B0502040204020203" pitchFamily="34" charset="0"/>
              </a:rPr>
              <a:t>Los navegadores confiaban en un atacante pensando que era una entidad legítima, y las grandes empresas como Google, Microsoft y Apple eliminaron a </a:t>
            </a:r>
            <a:r>
              <a:rPr lang="es-ES" sz="1600" dirty="0" err="1">
                <a:latin typeface="Bahnschrift" panose="020B0502040204020203" pitchFamily="34" charset="0"/>
              </a:rPr>
              <a:t>DigiNotar</a:t>
            </a:r>
            <a:r>
              <a:rPr lang="es-ES" sz="1600" dirty="0">
                <a:latin typeface="Bahnschrift" panose="020B0502040204020203" pitchFamily="34" charset="0"/>
              </a:rPr>
              <a:t> de sus listas de confianza en menos de 48 horas. Al perder la confianza de los navegadores, el valor de la empresa cayó a cero. Se declaró en quiebra semanas después del incidente.</a:t>
            </a:r>
            <a:endParaRPr lang="es-MX" sz="1600" dirty="0">
              <a:latin typeface="Bahnschrift" panose="020B0502040204020203" pitchFamily="34" charset="0"/>
            </a:endParaRPr>
          </a:p>
        </p:txBody>
      </p:sp>
      <p:sp>
        <p:nvSpPr>
          <p:cNvPr id="12" name="TextBox 11">
            <a:extLst>
              <a:ext uri="{FF2B5EF4-FFF2-40B4-BE49-F238E27FC236}">
                <a16:creationId xmlns:a16="http://schemas.microsoft.com/office/drawing/2014/main" id="{77160053-F42A-0C19-65E8-1F3FEFFA6EA4}"/>
              </a:ext>
            </a:extLst>
          </p:cNvPr>
          <p:cNvSpPr txBox="1"/>
          <p:nvPr/>
        </p:nvSpPr>
        <p:spPr>
          <a:xfrm>
            <a:off x="11872682" y="6488668"/>
            <a:ext cx="319318" cy="369332"/>
          </a:xfrm>
          <a:prstGeom prst="rect">
            <a:avLst/>
          </a:prstGeom>
          <a:noFill/>
        </p:spPr>
        <p:txBody>
          <a:bodyPr wrap="none" rtlCol="0">
            <a:spAutoFit/>
          </a:bodyPr>
          <a:lstStyle/>
          <a:p>
            <a:pPr>
              <a:spcAft>
                <a:spcPts val="600"/>
              </a:spcAft>
            </a:pPr>
            <a:r>
              <a:rPr lang="es-MX" dirty="0"/>
              <a:t>6</a:t>
            </a:r>
            <a:endParaRPr lang="en-US" dirty="0"/>
          </a:p>
        </p:txBody>
      </p:sp>
    </p:spTree>
    <p:extLst>
      <p:ext uri="{BB962C8B-B14F-4D97-AF65-F5344CB8AC3E}">
        <p14:creationId xmlns:p14="http://schemas.microsoft.com/office/powerpoint/2010/main" val="312805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9A204626-2220-4678-A939-FD94EA7B53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94408D-75C3-B76A-31BA-E7AB41D9900D}"/>
              </a:ext>
            </a:extLst>
          </p:cNvPr>
          <p:cNvSpPr>
            <a:spLocks noGrp="1"/>
          </p:cNvSpPr>
          <p:nvPr>
            <p:ph type="title"/>
          </p:nvPr>
        </p:nvSpPr>
        <p:spPr>
          <a:xfrm>
            <a:off x="784742" y="540078"/>
            <a:ext cx="5958837" cy="1485900"/>
          </a:xfrm>
        </p:spPr>
        <p:txBody>
          <a:bodyPr>
            <a:normAutofit/>
          </a:bodyPr>
          <a:lstStyle/>
          <a:p>
            <a:pPr algn="ctr"/>
            <a:r>
              <a:rPr lang="es-MX" dirty="0">
                <a:latin typeface="Bahnschrift" panose="020B0502040204020203" pitchFamily="34" charset="0"/>
              </a:rPr>
              <a:t>Mitigación Técnica</a:t>
            </a:r>
          </a:p>
        </p:txBody>
      </p:sp>
      <p:sp>
        <p:nvSpPr>
          <p:cNvPr id="3" name="Marcador de contenido 2">
            <a:extLst>
              <a:ext uri="{FF2B5EF4-FFF2-40B4-BE49-F238E27FC236}">
                <a16:creationId xmlns:a16="http://schemas.microsoft.com/office/drawing/2014/main" id="{ECB041A3-0E0C-0E3D-3D36-C8018F265AEC}"/>
              </a:ext>
            </a:extLst>
          </p:cNvPr>
          <p:cNvSpPr>
            <a:spLocks noGrp="1"/>
          </p:cNvSpPr>
          <p:nvPr>
            <p:ph idx="1"/>
          </p:nvPr>
        </p:nvSpPr>
        <p:spPr>
          <a:xfrm>
            <a:off x="363592" y="2100175"/>
            <a:ext cx="6801136" cy="3403272"/>
          </a:xfrm>
        </p:spPr>
        <p:txBody>
          <a:bodyPr>
            <a:normAutofit/>
          </a:bodyPr>
          <a:lstStyle/>
          <a:p>
            <a:pPr algn="just"/>
            <a:r>
              <a:rPr lang="es-ES" sz="1900" b="1" dirty="0">
                <a:latin typeface="Bahnschrift" panose="020B0502040204020203" pitchFamily="34" charset="0"/>
              </a:rPr>
              <a:t>1. Blindar la Información (Prevención)</a:t>
            </a:r>
          </a:p>
          <a:p>
            <a:pPr marL="0" indent="0" algn="just">
              <a:buNone/>
            </a:pPr>
            <a:r>
              <a:rPr lang="es-ES" sz="1900" b="1" dirty="0">
                <a:latin typeface="Bahnschrift" panose="020B0502040204020203" pitchFamily="34" charset="0"/>
              </a:rPr>
              <a:t>Usar Estándares Oficiales:</a:t>
            </a:r>
            <a:r>
              <a:rPr lang="es-ES" sz="1900" dirty="0">
                <a:latin typeface="Bahnschrift" panose="020B0502040204020203" pitchFamily="34" charset="0"/>
              </a:rPr>
              <a:t> No intentar "inventar" métodos de cifrado. Usar herramientas que probadas por expertos a nivel mundial.</a:t>
            </a:r>
          </a:p>
          <a:p>
            <a:pPr marL="0" indent="0" algn="just">
              <a:buNone/>
            </a:pPr>
            <a:r>
              <a:rPr lang="es-ES" sz="1900" b="1" dirty="0">
                <a:latin typeface="Bahnschrift" panose="020B0502040204020203" pitchFamily="34" charset="0"/>
              </a:rPr>
              <a:t>Proteger las Llaves:</a:t>
            </a:r>
            <a:r>
              <a:rPr lang="es-ES" sz="1900" dirty="0">
                <a:latin typeface="Bahnschrift" panose="020B0502040204020203" pitchFamily="34" charset="0"/>
              </a:rPr>
              <a:t> Nunca dejar las "llaves" del sistema en lugares obvios (como el código de la app o notas de texto). Se deben guardar en "bóvedas digitales" protegidas.</a:t>
            </a:r>
          </a:p>
          <a:p>
            <a:pPr marL="0" indent="0" algn="just">
              <a:buNone/>
            </a:pPr>
            <a:r>
              <a:rPr lang="es-ES" sz="1900" b="1" dirty="0">
                <a:latin typeface="Bahnschrift" panose="020B0502040204020203" pitchFamily="34" charset="0"/>
              </a:rPr>
              <a:t>Cifrado en Tránsito:</a:t>
            </a:r>
            <a:r>
              <a:rPr lang="es-ES" sz="1900" dirty="0">
                <a:latin typeface="Bahnschrift" panose="020B0502040204020203" pitchFamily="34" charset="0"/>
              </a:rPr>
              <a:t> Asegurar que toda la información viaje en sobres cerrados (HTTPS/TLS) para que nadie pueda leerla mientras cruza internet.</a:t>
            </a:r>
          </a:p>
        </p:txBody>
      </p:sp>
      <p:sp>
        <p:nvSpPr>
          <p:cNvPr id="3081" name="Rectangle 3080">
            <a:extLst>
              <a:ext uri="{FF2B5EF4-FFF2-40B4-BE49-F238E27FC236}">
                <a16:creationId xmlns:a16="http://schemas.microsoft.com/office/drawing/2014/main" id="{EB97D8A6-1C5A-42B6-AE78-F3D0F9BDF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074" name="Picture 2" descr="Icono de candado de neón que simboliza la protección y seguridad de la  contraseña | Vector Premium">
            <a:extLst>
              <a:ext uri="{FF2B5EF4-FFF2-40B4-BE49-F238E27FC236}">
                <a16:creationId xmlns:a16="http://schemas.microsoft.com/office/drawing/2014/main" id="{07310A6A-C57C-12C3-C968-AB9E35812166}"/>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0000" l="10000" r="90000">
                        <a14:foregroundMark x1="66613" y1="50639" x2="66613" y2="50639"/>
                        <a14:foregroundMark x1="66454" y1="50000" x2="66454" y2="50000"/>
                        <a14:foregroundMark x1="66454" y1="50000" x2="66454" y2="50000"/>
                        <a14:foregroundMark x1="66773" y1="50000" x2="66773" y2="50000"/>
                        <a14:foregroundMark x1="66773" y1="50000" x2="66773" y2="50000"/>
                        <a14:foregroundMark x1="67093" y1="50000" x2="67093" y2="50000"/>
                        <a14:foregroundMark x1="67093" y1="49681" x2="67093" y2="49681"/>
                        <a14:foregroundMark x1="67093" y1="49521" x2="66454" y2="48722"/>
                        <a14:foregroundMark x1="66773" y1="50000" x2="67093" y2="52077"/>
                        <a14:foregroundMark x1="67093" y1="53514" x2="66773" y2="49361"/>
                        <a14:foregroundMark x1="66613" y1="48722" x2="67093" y2="54952"/>
                        <a14:backgroundMark x1="30990" y1="21406" x2="48882" y2="15335"/>
                        <a14:backgroundMark x1="48882" y1="15335" x2="57508" y2="19489"/>
                        <a14:backgroundMark x1="57508" y1="19489" x2="73163" y2="38339"/>
                        <a14:backgroundMark x1="73163" y1="38339" x2="77636" y2="57348"/>
                        <a14:backgroundMark x1="77636" y1="57348" x2="70927" y2="79393"/>
                        <a14:backgroundMark x1="70927" y1="79393" x2="54313" y2="84665"/>
                        <a14:backgroundMark x1="54313" y1="84665" x2="29233" y2="82109"/>
                        <a14:backgroundMark x1="29233" y1="82109" x2="22684" y2="76518"/>
                        <a14:backgroundMark x1="22684" y1="76518" x2="21565" y2="61981"/>
                        <a14:backgroundMark x1="21565" y1="61981" x2="32588" y2="21565"/>
                        <a14:backgroundMark x1="23642" y1="57508" x2="24601" y2="67412"/>
                        <a14:backgroundMark x1="62141" y1="38179" x2="66613" y2="45687"/>
                        <a14:backgroundMark x1="67626" y1="54911" x2="69808" y2="74760"/>
                        <a14:backgroundMark x1="66613" y1="45687" x2="66944" y2="48697"/>
                      </a14:backgroundRemoval>
                    </a14:imgEffect>
                  </a14:imgLayer>
                </a14:imgProps>
              </a:ext>
              <a:ext uri="{28A0092B-C50C-407E-A947-70E740481C1C}">
                <a14:useLocalDpi xmlns:a14="http://schemas.microsoft.com/office/drawing/2010/main" val="0"/>
              </a:ext>
            </a:extLst>
          </a:blip>
          <a:srcRect l="20068" t="18466" r="29666" b="18318"/>
          <a:stretch/>
        </p:blipFill>
        <p:spPr bwMode="auto">
          <a:xfrm>
            <a:off x="8252340" y="1353800"/>
            <a:ext cx="3299579" cy="4149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5E86941-747F-F9AA-463A-396CF5ABF483}"/>
              </a:ext>
            </a:extLst>
          </p:cNvPr>
          <p:cNvSpPr txBox="1"/>
          <p:nvPr/>
        </p:nvSpPr>
        <p:spPr>
          <a:xfrm>
            <a:off x="11872682" y="6488668"/>
            <a:ext cx="319318" cy="369332"/>
          </a:xfrm>
          <a:prstGeom prst="rect">
            <a:avLst/>
          </a:prstGeom>
          <a:noFill/>
        </p:spPr>
        <p:txBody>
          <a:bodyPr wrap="none" rtlCol="0">
            <a:spAutoFit/>
          </a:bodyPr>
          <a:lstStyle/>
          <a:p>
            <a:pPr>
              <a:spcAft>
                <a:spcPts val="600"/>
              </a:spcAft>
            </a:pPr>
            <a:r>
              <a:rPr lang="es-MX" dirty="0"/>
              <a:t>7</a:t>
            </a:r>
            <a:endParaRPr lang="en-US" dirty="0"/>
          </a:p>
        </p:txBody>
      </p:sp>
    </p:spTree>
    <p:extLst>
      <p:ext uri="{BB962C8B-B14F-4D97-AF65-F5344CB8AC3E}">
        <p14:creationId xmlns:p14="http://schemas.microsoft.com/office/powerpoint/2010/main" val="1816081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83B91B61-BFCA-4647-957E-A8269BE46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160+ Thousand Digital Alert Royalty-Free Images, Stock Photos ...">
            <a:extLst>
              <a:ext uri="{FF2B5EF4-FFF2-40B4-BE49-F238E27FC236}">
                <a16:creationId xmlns:a16="http://schemas.microsoft.com/office/drawing/2014/main" id="{BE98E21F-675C-64CF-1B93-6666C2D6A8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596" r="32532"/>
          <a:stretch>
            <a:fillRect/>
          </a:stretch>
        </p:blipFill>
        <p:spPr bwMode="auto">
          <a:xfrm>
            <a:off x="-1" y="10"/>
            <a:ext cx="4373546"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5" name="Rectangle 4104">
            <a:extLst>
              <a:ext uri="{FF2B5EF4-FFF2-40B4-BE49-F238E27FC236}">
                <a16:creationId xmlns:a16="http://schemas.microsoft.com/office/drawing/2014/main" id="{92D1D7C6-1C89-420C-8D35-483654167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Marcador de contenido 2">
            <a:extLst>
              <a:ext uri="{FF2B5EF4-FFF2-40B4-BE49-F238E27FC236}">
                <a16:creationId xmlns:a16="http://schemas.microsoft.com/office/drawing/2014/main" id="{7F370DB5-0CD5-6E46-1251-D034E2043BDD}"/>
              </a:ext>
            </a:extLst>
          </p:cNvPr>
          <p:cNvSpPr>
            <a:spLocks noGrp="1"/>
          </p:cNvSpPr>
          <p:nvPr>
            <p:ph idx="1"/>
          </p:nvPr>
        </p:nvSpPr>
        <p:spPr>
          <a:xfrm>
            <a:off x="4826504" y="335280"/>
            <a:ext cx="7172456" cy="6228080"/>
          </a:xfrm>
        </p:spPr>
        <p:txBody>
          <a:bodyPr>
            <a:normAutofit/>
          </a:bodyPr>
          <a:lstStyle/>
          <a:p>
            <a:r>
              <a:rPr lang="es-ES" sz="1900" b="1" dirty="0">
                <a:latin typeface="Bahnschrift" panose="020B0502040204020203" pitchFamily="34" charset="0"/>
              </a:rPr>
              <a:t>2. Vigilancia Continua (Detección en </a:t>
            </a:r>
            <a:r>
              <a:rPr lang="es-ES" sz="1900" b="1" dirty="0" err="1">
                <a:latin typeface="Bahnschrift" panose="020B0502040204020203" pitchFamily="34" charset="0"/>
              </a:rPr>
              <a:t>SOC’s</a:t>
            </a:r>
            <a:r>
              <a:rPr lang="es-ES" sz="1900" b="1" dirty="0">
                <a:latin typeface="Bahnschrift" panose="020B0502040204020203" pitchFamily="34" charset="0"/>
              </a:rPr>
              <a:t>)</a:t>
            </a:r>
          </a:p>
          <a:p>
            <a:pPr marL="0" indent="0">
              <a:buNone/>
            </a:pPr>
            <a:r>
              <a:rPr lang="es-ES" sz="1900" b="1" dirty="0">
                <a:latin typeface="Bahnschrift" panose="020B0502040204020203" pitchFamily="34" charset="0"/>
              </a:rPr>
              <a:t>Escaneo de Fugas:</a:t>
            </a:r>
            <a:r>
              <a:rPr lang="es-ES" sz="1900" dirty="0">
                <a:latin typeface="Bahnschrift" panose="020B0502040204020203" pitchFamily="34" charset="0"/>
              </a:rPr>
              <a:t> Usar herramientas automáticas que busquen llaves olvidadas o errores de seguridad antes de que la aplicación salga a la luz.</a:t>
            </a:r>
          </a:p>
          <a:p>
            <a:pPr marL="0" indent="0">
              <a:buNone/>
            </a:pPr>
            <a:r>
              <a:rPr lang="es-ES" sz="1900" b="1" dirty="0">
                <a:latin typeface="Bahnschrift" panose="020B0502040204020203" pitchFamily="34" charset="0"/>
              </a:rPr>
              <a:t>Alertas Tempranas:</a:t>
            </a:r>
            <a:r>
              <a:rPr lang="es-ES" sz="1900" dirty="0">
                <a:latin typeface="Bahnschrift" panose="020B0502040204020203" pitchFamily="34" charset="0"/>
              </a:rPr>
              <a:t> Configurar alarmas para avisar si alguien está intentando usar protocolos de seguridad viejos o si una llave importante fue accedida sin permiso.</a:t>
            </a:r>
          </a:p>
          <a:p>
            <a:pPr marL="0" indent="0">
              <a:buNone/>
            </a:pPr>
            <a:endParaRPr lang="es-ES" sz="1900" dirty="0">
              <a:latin typeface="Bahnschrift" panose="020B0502040204020203" pitchFamily="34" charset="0"/>
            </a:endParaRPr>
          </a:p>
          <a:p>
            <a:pPr marL="0" indent="0">
              <a:buNone/>
            </a:pPr>
            <a:endParaRPr lang="es-ES" sz="1900" dirty="0">
              <a:latin typeface="Bahnschrift" panose="020B0502040204020203" pitchFamily="34" charset="0"/>
            </a:endParaRPr>
          </a:p>
          <a:p>
            <a:r>
              <a:rPr lang="es-ES" sz="1900" b="1" dirty="0">
                <a:latin typeface="Bahnschrift" panose="020B0502040204020203" pitchFamily="34" charset="0"/>
              </a:rPr>
              <a:t>3. Plan de Emergencia (Respuesta)</a:t>
            </a:r>
          </a:p>
          <a:p>
            <a:pPr marL="0" indent="0">
              <a:buNone/>
            </a:pPr>
            <a:r>
              <a:rPr lang="es-ES" sz="1900" b="1" dirty="0">
                <a:latin typeface="Bahnschrift" panose="020B0502040204020203" pitchFamily="34" charset="0"/>
              </a:rPr>
              <a:t>Cambio Rápido:</a:t>
            </a:r>
            <a:r>
              <a:rPr lang="es-ES" sz="1900" dirty="0">
                <a:latin typeface="Bahnschrift" panose="020B0502040204020203" pitchFamily="34" charset="0"/>
              </a:rPr>
              <a:t> Si una llave se pierde o se roba, el sistema debe ser capaz de cancelarla y generar una nueva de inmediato sin dejar de funcionar.</a:t>
            </a:r>
          </a:p>
          <a:p>
            <a:pPr marL="0" indent="0">
              <a:buNone/>
            </a:pPr>
            <a:r>
              <a:rPr lang="es-ES" sz="1900" b="1" dirty="0">
                <a:latin typeface="Bahnschrift" panose="020B0502040204020203" pitchFamily="34" charset="0"/>
              </a:rPr>
              <a:t>Actualización Constante:</a:t>
            </a:r>
            <a:r>
              <a:rPr lang="es-ES" sz="1900" dirty="0">
                <a:latin typeface="Bahnschrift" panose="020B0502040204020203" pitchFamily="34" charset="0"/>
              </a:rPr>
              <a:t> Tener la capacidad de actualizar los candados digitales si se descubre que el modelo actual ya es fácil de romper.</a:t>
            </a:r>
          </a:p>
        </p:txBody>
      </p:sp>
      <p:sp>
        <p:nvSpPr>
          <p:cNvPr id="5" name="TextBox 4">
            <a:extLst>
              <a:ext uri="{FF2B5EF4-FFF2-40B4-BE49-F238E27FC236}">
                <a16:creationId xmlns:a16="http://schemas.microsoft.com/office/drawing/2014/main" id="{91A13F81-A106-0271-9D9D-C6408246BAB6}"/>
              </a:ext>
            </a:extLst>
          </p:cNvPr>
          <p:cNvSpPr txBox="1"/>
          <p:nvPr/>
        </p:nvSpPr>
        <p:spPr>
          <a:xfrm>
            <a:off x="11872682" y="6488668"/>
            <a:ext cx="319318" cy="369332"/>
          </a:xfrm>
          <a:prstGeom prst="rect">
            <a:avLst/>
          </a:prstGeom>
          <a:noFill/>
        </p:spPr>
        <p:txBody>
          <a:bodyPr wrap="none" rtlCol="0">
            <a:spAutoFit/>
          </a:bodyPr>
          <a:lstStyle/>
          <a:p>
            <a:pPr>
              <a:spcAft>
                <a:spcPts val="600"/>
              </a:spcAft>
            </a:pPr>
            <a:r>
              <a:rPr lang="es-MX" dirty="0"/>
              <a:t>8</a:t>
            </a:r>
            <a:endParaRPr lang="en-US" dirty="0"/>
          </a:p>
        </p:txBody>
      </p:sp>
    </p:spTree>
    <p:extLst>
      <p:ext uri="{BB962C8B-B14F-4D97-AF65-F5344CB8AC3E}">
        <p14:creationId xmlns:p14="http://schemas.microsoft.com/office/powerpoint/2010/main" val="786050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0C3A0B-0A49-2143-CBA4-C4D7DB28361C}"/>
              </a:ext>
            </a:extLst>
          </p:cNvPr>
          <p:cNvSpPr>
            <a:spLocks noGrp="1"/>
          </p:cNvSpPr>
          <p:nvPr>
            <p:ph type="title"/>
          </p:nvPr>
        </p:nvSpPr>
        <p:spPr>
          <a:xfrm>
            <a:off x="1219200" y="247650"/>
            <a:ext cx="9601200" cy="1485900"/>
          </a:xfrm>
        </p:spPr>
        <p:txBody>
          <a:bodyPr/>
          <a:lstStyle/>
          <a:p>
            <a:r>
              <a:rPr lang="es-MX" dirty="0">
                <a:latin typeface="Bahnschrift" panose="020B0502040204020203" pitchFamily="34" charset="0"/>
              </a:rPr>
              <a:t>Buenas practicas</a:t>
            </a:r>
            <a:br>
              <a:rPr lang="es-MX" dirty="0">
                <a:latin typeface="Bahnschrift" panose="020B0502040204020203" pitchFamily="34" charset="0"/>
              </a:rPr>
            </a:br>
            <a:endParaRPr lang="es-MX" dirty="0">
              <a:latin typeface="Bahnschrift" panose="020B0502040204020203" pitchFamily="34" charset="0"/>
            </a:endParaRPr>
          </a:p>
        </p:txBody>
      </p:sp>
      <p:sp>
        <p:nvSpPr>
          <p:cNvPr id="3" name="Marcador de contenido 2">
            <a:extLst>
              <a:ext uri="{FF2B5EF4-FFF2-40B4-BE49-F238E27FC236}">
                <a16:creationId xmlns:a16="http://schemas.microsoft.com/office/drawing/2014/main" id="{C3D18922-C503-7A7F-BE0D-9F5B12D7990B}"/>
              </a:ext>
            </a:extLst>
          </p:cNvPr>
          <p:cNvSpPr>
            <a:spLocks noGrp="1"/>
          </p:cNvSpPr>
          <p:nvPr>
            <p:ph idx="1"/>
          </p:nvPr>
        </p:nvSpPr>
        <p:spPr>
          <a:xfrm>
            <a:off x="1371600" y="1279144"/>
            <a:ext cx="9601200" cy="1736344"/>
          </a:xfrm>
        </p:spPr>
        <p:txBody>
          <a:bodyPr>
            <a:normAutofit/>
          </a:bodyPr>
          <a:lstStyle/>
          <a:p>
            <a:r>
              <a:rPr lang="es-ES" sz="1700" b="1" dirty="0">
                <a:latin typeface="Bahnschrift" panose="020B0502040204020203" pitchFamily="34" charset="0"/>
              </a:rPr>
              <a:t>1. Criptografía desde el Diseño (Security </a:t>
            </a:r>
            <a:r>
              <a:rPr lang="es-ES" sz="1700" b="1" dirty="0" err="1">
                <a:latin typeface="Bahnschrift" panose="020B0502040204020203" pitchFamily="34" charset="0"/>
              </a:rPr>
              <a:t>by</a:t>
            </a:r>
            <a:r>
              <a:rPr lang="es-ES" sz="1700" b="1" dirty="0">
                <a:latin typeface="Bahnschrift" panose="020B0502040204020203" pitchFamily="34" charset="0"/>
              </a:rPr>
              <a:t> </a:t>
            </a:r>
            <a:r>
              <a:rPr lang="es-ES" sz="1700" b="1" dirty="0" err="1">
                <a:latin typeface="Bahnschrift" panose="020B0502040204020203" pitchFamily="34" charset="0"/>
              </a:rPr>
              <a:t>Design</a:t>
            </a:r>
            <a:r>
              <a:rPr lang="es-ES" sz="1700" b="1" dirty="0">
                <a:latin typeface="Bahnschrift" panose="020B0502040204020203" pitchFamily="34" charset="0"/>
              </a:rPr>
              <a:t>)</a:t>
            </a:r>
          </a:p>
          <a:p>
            <a:pPr marL="0" indent="0">
              <a:buNone/>
            </a:pPr>
            <a:r>
              <a:rPr lang="es-ES" sz="1700" b="1" dirty="0">
                <a:latin typeface="Bahnschrift" panose="020B0502040204020203" pitchFamily="34" charset="0"/>
              </a:rPr>
              <a:t>No inventar nada:</a:t>
            </a:r>
            <a:r>
              <a:rPr lang="es-ES" sz="1700" dirty="0">
                <a:latin typeface="Bahnschrift" panose="020B0502040204020203" pitchFamily="34" charset="0"/>
              </a:rPr>
              <a:t> Utilizar siempre librerías estándar y actualizadas (como OpenSSL o </a:t>
            </a:r>
            <a:r>
              <a:rPr lang="es-ES" sz="1700" dirty="0" err="1">
                <a:latin typeface="Bahnschrift" panose="020B0502040204020203" pitchFamily="34" charset="0"/>
              </a:rPr>
              <a:t>Libsodium</a:t>
            </a:r>
            <a:r>
              <a:rPr lang="es-ES" sz="1700" dirty="0">
                <a:latin typeface="Bahnschrift" panose="020B0502040204020203" pitchFamily="34" charset="0"/>
              </a:rPr>
              <a:t>).</a:t>
            </a:r>
          </a:p>
          <a:p>
            <a:pPr marL="0" indent="0">
              <a:buNone/>
            </a:pPr>
            <a:r>
              <a:rPr lang="es-ES" sz="1700" b="1" dirty="0">
                <a:latin typeface="Bahnschrift" panose="020B0502040204020203" pitchFamily="34" charset="0"/>
              </a:rPr>
              <a:t>Defensa en Profundidad:</a:t>
            </a:r>
            <a:r>
              <a:rPr lang="es-ES" sz="1700" dirty="0">
                <a:latin typeface="Bahnschrift" panose="020B0502040204020203" pitchFamily="34" charset="0"/>
              </a:rPr>
              <a:t> No confiar en una sola capa. Si el firewall falla, los datos deben estar cifrados; si el cifrado falla, las llaves deben estar protegidas en otro sitio.</a:t>
            </a:r>
            <a:endParaRPr lang="es-MX" sz="1700" dirty="0"/>
          </a:p>
        </p:txBody>
      </p:sp>
      <p:sp>
        <p:nvSpPr>
          <p:cNvPr id="4" name="Marcador de contenido 2">
            <a:extLst>
              <a:ext uri="{FF2B5EF4-FFF2-40B4-BE49-F238E27FC236}">
                <a16:creationId xmlns:a16="http://schemas.microsoft.com/office/drawing/2014/main" id="{F33DE0EE-ADA1-0C9B-DD3C-E349E7224380}"/>
              </a:ext>
            </a:extLst>
          </p:cNvPr>
          <p:cNvSpPr txBox="1">
            <a:spLocks/>
          </p:cNvSpPr>
          <p:nvPr/>
        </p:nvSpPr>
        <p:spPr>
          <a:xfrm>
            <a:off x="1371600" y="3145536"/>
            <a:ext cx="9601200" cy="179933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s-ES" sz="1700" b="1" dirty="0">
                <a:latin typeface="Bahnschrift" panose="020B0502040204020203" pitchFamily="34" charset="0"/>
              </a:rPr>
              <a:t>2. Filosofía Zero Trust (Confianza Cero)</a:t>
            </a:r>
          </a:p>
          <a:p>
            <a:pPr marL="0" indent="0">
              <a:buFont typeface="Franklin Gothic Book" panose="020B0503020102020204" pitchFamily="34" charset="0"/>
              <a:buNone/>
            </a:pPr>
            <a:r>
              <a:rPr lang="es-ES" sz="1700" b="1" dirty="0">
                <a:latin typeface="Bahnschrift" panose="020B0502040204020203" pitchFamily="34" charset="0"/>
              </a:rPr>
              <a:t>Cifrar TODO:</a:t>
            </a:r>
            <a:r>
              <a:rPr lang="es-ES" sz="1700" dirty="0">
                <a:latin typeface="Bahnschrift" panose="020B0502040204020203" pitchFamily="34" charset="0"/>
              </a:rPr>
              <a:t> No asumir que la red interna es segura. Los datos deben viajar cifrados incluso entre servidores de la misma empresa (</a:t>
            </a:r>
            <a:r>
              <a:rPr lang="es-ES" sz="1700" b="1" dirty="0" err="1">
                <a:latin typeface="Bahnschrift" panose="020B0502040204020203" pitchFamily="34" charset="0"/>
              </a:rPr>
              <a:t>mTLS</a:t>
            </a:r>
            <a:r>
              <a:rPr lang="es-ES" sz="1700" dirty="0">
                <a:latin typeface="Bahnschrift" panose="020B0502040204020203" pitchFamily="34" charset="0"/>
              </a:rPr>
              <a:t>).</a:t>
            </a:r>
          </a:p>
          <a:p>
            <a:pPr marL="0" indent="0">
              <a:buFont typeface="Franklin Gothic Book" panose="020B0503020102020204" pitchFamily="34" charset="0"/>
              <a:buNone/>
            </a:pPr>
            <a:r>
              <a:rPr lang="es-ES" sz="1700" b="1" dirty="0">
                <a:latin typeface="Bahnschrift" panose="020B0502040204020203" pitchFamily="34" charset="0"/>
              </a:rPr>
              <a:t>Mínimo Privilegio:</a:t>
            </a:r>
            <a:r>
              <a:rPr lang="es-ES" sz="1700" dirty="0">
                <a:latin typeface="Bahnschrift" panose="020B0502040204020203" pitchFamily="34" charset="0"/>
              </a:rPr>
              <a:t> Solo los procesos que realmente necesitan descifrar datos deben tener acceso a las llaves.</a:t>
            </a:r>
          </a:p>
          <a:p>
            <a:endParaRPr lang="es-MX" dirty="0"/>
          </a:p>
        </p:txBody>
      </p:sp>
      <p:sp>
        <p:nvSpPr>
          <p:cNvPr id="5" name="Marcador de contenido 2">
            <a:extLst>
              <a:ext uri="{FF2B5EF4-FFF2-40B4-BE49-F238E27FC236}">
                <a16:creationId xmlns:a16="http://schemas.microsoft.com/office/drawing/2014/main" id="{6C059854-9215-A9E3-A207-BE5A1C6F21B7}"/>
              </a:ext>
            </a:extLst>
          </p:cNvPr>
          <p:cNvSpPr txBox="1">
            <a:spLocks/>
          </p:cNvSpPr>
          <p:nvPr/>
        </p:nvSpPr>
        <p:spPr>
          <a:xfrm>
            <a:off x="1371600" y="4944872"/>
            <a:ext cx="9601200" cy="179933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s-ES" sz="1700" b="1" dirty="0">
                <a:latin typeface="Bahnschrift" panose="020B0502040204020203" pitchFamily="34" charset="0"/>
              </a:rPr>
              <a:t>3. Agilidad Criptográfica</a:t>
            </a:r>
          </a:p>
          <a:p>
            <a:pPr marL="0" indent="0">
              <a:buNone/>
            </a:pPr>
            <a:r>
              <a:rPr lang="es-ES" sz="1700" b="1" dirty="0">
                <a:latin typeface="Bahnschrift" panose="020B0502040204020203" pitchFamily="34" charset="0"/>
              </a:rPr>
              <a:t>Capacidad de Cambio:</a:t>
            </a:r>
            <a:r>
              <a:rPr lang="es-ES" sz="1700" dirty="0">
                <a:latin typeface="Bahnschrift" panose="020B0502040204020203" pitchFamily="34" charset="0"/>
              </a:rPr>
              <a:t> Diseñar el sistema de modo que, si un algoritmo (como RSA) se vuelve inseguro mañana, puedas cambiarlo por uno nuevo sin tener que reprogramar toda la aplicación.</a:t>
            </a:r>
          </a:p>
          <a:p>
            <a:pPr marL="0" indent="0">
              <a:buNone/>
            </a:pPr>
            <a:r>
              <a:rPr lang="es-ES" sz="1700" b="1" dirty="0">
                <a:latin typeface="Bahnschrift" panose="020B0502040204020203" pitchFamily="34" charset="0"/>
              </a:rPr>
              <a:t>Rotación de Secretos:</a:t>
            </a:r>
            <a:r>
              <a:rPr lang="es-ES" sz="1700" dirty="0">
                <a:latin typeface="Bahnschrift" panose="020B0502040204020203" pitchFamily="34" charset="0"/>
              </a:rPr>
              <a:t> Cambiar las llaves de cifrado y contraseñas de forma periódica y automática.</a:t>
            </a:r>
          </a:p>
          <a:p>
            <a:endParaRPr lang="es-MX" dirty="0"/>
          </a:p>
        </p:txBody>
      </p:sp>
      <p:pic>
        <p:nvPicPr>
          <p:cNvPr id="5122" name="Picture 2" descr="Actividades con Buenas Prácticas - IEEC">
            <a:extLst>
              <a:ext uri="{FF2B5EF4-FFF2-40B4-BE49-F238E27FC236}">
                <a16:creationId xmlns:a16="http://schemas.microsoft.com/office/drawing/2014/main" id="{974AA3E9-5247-AE3F-A7DE-C3925C035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8545" y="247650"/>
            <a:ext cx="2048510" cy="137933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71A5A7-F649-C454-CDF7-79D2349C91BF}"/>
              </a:ext>
            </a:extLst>
          </p:cNvPr>
          <p:cNvSpPr txBox="1"/>
          <p:nvPr/>
        </p:nvSpPr>
        <p:spPr>
          <a:xfrm>
            <a:off x="11872682" y="6488668"/>
            <a:ext cx="319318" cy="369332"/>
          </a:xfrm>
          <a:prstGeom prst="rect">
            <a:avLst/>
          </a:prstGeom>
          <a:noFill/>
        </p:spPr>
        <p:txBody>
          <a:bodyPr wrap="none" rtlCol="0">
            <a:spAutoFit/>
          </a:bodyPr>
          <a:lstStyle/>
          <a:p>
            <a:pPr>
              <a:spcAft>
                <a:spcPts val="600"/>
              </a:spcAft>
            </a:pPr>
            <a:r>
              <a:rPr lang="es-MX" dirty="0"/>
              <a:t>9</a:t>
            </a:r>
            <a:endParaRPr lang="en-US" dirty="0"/>
          </a:p>
        </p:txBody>
      </p:sp>
    </p:spTree>
    <p:extLst>
      <p:ext uri="{BB962C8B-B14F-4D97-AF65-F5344CB8AC3E}">
        <p14:creationId xmlns:p14="http://schemas.microsoft.com/office/powerpoint/2010/main" val="167601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043605-2AAF-CD8C-1B34-C2F99D90C4CD}"/>
              </a:ext>
            </a:extLst>
          </p:cNvPr>
          <p:cNvSpPr>
            <a:spLocks noGrp="1"/>
          </p:cNvSpPr>
          <p:nvPr>
            <p:ph type="title"/>
          </p:nvPr>
        </p:nvSpPr>
        <p:spPr>
          <a:xfrm>
            <a:off x="1295400" y="182880"/>
            <a:ext cx="9601200" cy="1485900"/>
          </a:xfrm>
        </p:spPr>
        <p:txBody>
          <a:bodyPr/>
          <a:lstStyle/>
          <a:p>
            <a:r>
              <a:rPr lang="es-MX" dirty="0">
                <a:latin typeface="Bahnschrift" panose="020B0502040204020203" pitchFamily="34" charset="0"/>
              </a:rPr>
              <a:t>Herramientas para detectar la vulnerabilidad</a:t>
            </a:r>
          </a:p>
        </p:txBody>
      </p:sp>
      <p:sp>
        <p:nvSpPr>
          <p:cNvPr id="4" name="Rectangle 1">
            <a:extLst>
              <a:ext uri="{FF2B5EF4-FFF2-40B4-BE49-F238E27FC236}">
                <a16:creationId xmlns:a16="http://schemas.microsoft.com/office/drawing/2014/main" id="{015D3DBA-829F-8ECC-0A88-39BAA6DC78F1}"/>
              </a:ext>
            </a:extLst>
          </p:cNvPr>
          <p:cNvSpPr>
            <a:spLocks noGrp="1" noChangeArrowheads="1"/>
          </p:cNvSpPr>
          <p:nvPr>
            <p:ph idx="1"/>
          </p:nvPr>
        </p:nvSpPr>
        <p:spPr bwMode="auto">
          <a:xfrm>
            <a:off x="870203" y="1655982"/>
            <a:ext cx="1045159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1" i="0" u="none" strike="noStrike" cap="none" normalizeH="0" baseline="0" dirty="0">
                <a:ln>
                  <a:noFill/>
                </a:ln>
                <a:solidFill>
                  <a:schemeClr val="tx1"/>
                </a:solidFill>
                <a:effectLst/>
                <a:latin typeface="Bahnschrift" panose="020B0502040204020203" pitchFamily="34" charset="0"/>
              </a:rPr>
              <a:t>1. Escaneo de Secretos (Para llaves "olvidadas")</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Bahnschrift" panose="020B0502040204020203" pitchFamily="34" charset="0"/>
              </a:rPr>
              <a:t>Estas herramientas buscan llaves privadas, tokens y certificados dentro del código o metadatos.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solidFill>
                  <a:schemeClr val="tx1"/>
                </a:solidFill>
                <a:effectLst/>
                <a:latin typeface="Bahnschrift" panose="020B0502040204020203" pitchFamily="34" charset="0"/>
              </a:rPr>
              <a:t>TruffleHog</a:t>
            </a:r>
            <a:r>
              <a:rPr kumimoji="0" lang="es-MX" altLang="es-MX" sz="1400" b="1" i="0" u="none" strike="noStrike" cap="none" normalizeH="0" baseline="0" dirty="0">
                <a:ln>
                  <a:noFill/>
                </a:ln>
                <a:solidFill>
                  <a:schemeClr val="tx1"/>
                </a:solidFill>
                <a:effectLst/>
                <a:latin typeface="Bahnschrift" panose="020B0502040204020203" pitchFamily="34" charset="0"/>
              </a:rPr>
              <a:t>:</a:t>
            </a:r>
            <a:r>
              <a:rPr kumimoji="0" lang="es-MX" altLang="es-MX" sz="1400" b="0" i="0" u="none" strike="noStrike" cap="none" normalizeH="0" baseline="0" dirty="0">
                <a:ln>
                  <a:noFill/>
                </a:ln>
                <a:solidFill>
                  <a:schemeClr val="tx1"/>
                </a:solidFill>
                <a:effectLst/>
                <a:latin typeface="Bahnschrift" panose="020B0502040204020203" pitchFamily="34" charset="0"/>
              </a:rPr>
              <a:t> Escanea el historial de Git buscando llaves privadas y secretos.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solidFill>
                  <a:schemeClr val="tx1"/>
                </a:solidFill>
                <a:effectLst/>
                <a:latin typeface="Bahnschrift" panose="020B0502040204020203" pitchFamily="34" charset="0"/>
              </a:rPr>
              <a:t>Gitleaks</a:t>
            </a:r>
            <a:r>
              <a:rPr kumimoji="0" lang="es-MX" altLang="es-MX" sz="1400" b="1" i="0" u="none" strike="noStrike" cap="none" normalizeH="0" baseline="0" dirty="0">
                <a:ln>
                  <a:noFill/>
                </a:ln>
                <a:solidFill>
                  <a:schemeClr val="tx1"/>
                </a:solidFill>
                <a:effectLst/>
                <a:latin typeface="Bahnschrift" panose="020B0502040204020203" pitchFamily="34" charset="0"/>
              </a:rPr>
              <a:t>:</a:t>
            </a:r>
            <a:r>
              <a:rPr kumimoji="0" lang="es-MX" altLang="es-MX" sz="1400" b="0" i="0" u="none" strike="noStrike" cap="none" normalizeH="0" baseline="0" dirty="0">
                <a:ln>
                  <a:noFill/>
                </a:ln>
                <a:solidFill>
                  <a:schemeClr val="tx1"/>
                </a:solidFill>
                <a:effectLst/>
                <a:latin typeface="Bahnschrift" panose="020B0502040204020203" pitchFamily="34" charset="0"/>
              </a:rPr>
              <a:t> Muy rápida y efectiva para pipelines de CI/CD. Evita que el desarrollador haga el </a:t>
            </a:r>
            <a:r>
              <a:rPr kumimoji="0" lang="es-MX" altLang="es-MX" sz="1400" b="0" i="0" u="none" strike="noStrike" cap="none" normalizeH="0" baseline="0" dirty="0" err="1">
                <a:ln>
                  <a:noFill/>
                </a:ln>
                <a:solidFill>
                  <a:schemeClr val="tx1"/>
                </a:solidFill>
                <a:effectLst/>
                <a:latin typeface="Bahnschrift" panose="020B0502040204020203" pitchFamily="34" charset="0"/>
              </a:rPr>
              <a:t>push</a:t>
            </a:r>
            <a:r>
              <a:rPr kumimoji="0" lang="es-MX" altLang="es-MX" sz="1400" b="0" i="0" u="none" strike="noStrike" cap="none" normalizeH="0" baseline="0" dirty="0">
                <a:ln>
                  <a:noFill/>
                </a:ln>
                <a:solidFill>
                  <a:schemeClr val="tx1"/>
                </a:solidFill>
                <a:effectLst/>
                <a:latin typeface="Bahnschrift" panose="020B0502040204020203" pitchFamily="34" charset="0"/>
              </a:rPr>
              <a:t> si hay una llave en el código.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solidFill>
                  <a:schemeClr val="tx1"/>
                </a:solidFill>
                <a:effectLst/>
                <a:latin typeface="Bahnschrift" panose="020B0502040204020203" pitchFamily="34" charset="0"/>
              </a:rPr>
              <a:t>Talisman</a:t>
            </a:r>
            <a:r>
              <a:rPr kumimoji="0" lang="es-MX" altLang="es-MX" sz="1400" b="1" i="0" u="none" strike="noStrike" cap="none" normalizeH="0" baseline="0" dirty="0">
                <a:ln>
                  <a:noFill/>
                </a:ln>
                <a:solidFill>
                  <a:schemeClr val="tx1"/>
                </a:solidFill>
                <a:effectLst/>
                <a:latin typeface="Bahnschrift" panose="020B0502040204020203" pitchFamily="34" charset="0"/>
              </a:rPr>
              <a:t>:</a:t>
            </a:r>
            <a:r>
              <a:rPr kumimoji="0" lang="es-MX" altLang="es-MX" sz="1400" b="0" i="0" u="none" strike="noStrike" cap="none" normalizeH="0" baseline="0" dirty="0">
                <a:ln>
                  <a:noFill/>
                </a:ln>
                <a:solidFill>
                  <a:schemeClr val="tx1"/>
                </a:solidFill>
                <a:effectLst/>
                <a:latin typeface="Bahnschrift" panose="020B0502040204020203" pitchFamily="34" charset="0"/>
              </a:rPr>
              <a:t> Se instala como un "</a:t>
            </a:r>
            <a:r>
              <a:rPr kumimoji="0" lang="es-MX" altLang="es-MX" sz="1400" b="0" i="0" u="none" strike="noStrike" cap="none" normalizeH="0" baseline="0" dirty="0" err="1">
                <a:ln>
                  <a:noFill/>
                </a:ln>
                <a:solidFill>
                  <a:schemeClr val="tx1"/>
                </a:solidFill>
                <a:effectLst/>
                <a:latin typeface="Bahnschrift" panose="020B0502040204020203" pitchFamily="34" charset="0"/>
              </a:rPr>
              <a:t>hook</a:t>
            </a:r>
            <a:r>
              <a:rPr kumimoji="0" lang="es-MX" altLang="es-MX" sz="1400" b="0" i="0" u="none" strike="noStrike" cap="none" normalizeH="0" baseline="0" dirty="0">
                <a:ln>
                  <a:noFill/>
                </a:ln>
                <a:solidFill>
                  <a:schemeClr val="tx1"/>
                </a:solidFill>
                <a:effectLst/>
                <a:latin typeface="Bahnschrift" panose="020B0502040204020203" pitchFamily="34" charset="0"/>
              </a:rPr>
              <a:t>" de Git para detener el </a:t>
            </a:r>
            <a:r>
              <a:rPr kumimoji="0" lang="es-MX" altLang="es-MX" sz="1400" b="0" i="0" u="none" strike="noStrike" cap="none" normalizeH="0" baseline="0" dirty="0" err="1">
                <a:ln>
                  <a:noFill/>
                </a:ln>
                <a:solidFill>
                  <a:schemeClr val="tx1"/>
                </a:solidFill>
                <a:effectLst/>
                <a:latin typeface="Bahnschrift" panose="020B0502040204020203" pitchFamily="34" charset="0"/>
              </a:rPr>
              <a:t>commit</a:t>
            </a:r>
            <a:r>
              <a:rPr kumimoji="0" lang="es-MX" altLang="es-MX" sz="1400" b="0" i="0" u="none" strike="noStrike" cap="none" normalizeH="0" baseline="0" dirty="0">
                <a:ln>
                  <a:noFill/>
                </a:ln>
                <a:solidFill>
                  <a:schemeClr val="tx1"/>
                </a:solidFill>
                <a:effectLst/>
                <a:latin typeface="Bahnschrift" panose="020B0502040204020203" pitchFamily="34" charset="0"/>
              </a:rPr>
              <a:t> antes de que salga de la laptop del programador.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400" b="1" i="0" u="none" strike="noStrike" cap="none" normalizeH="0" baseline="0" dirty="0">
              <a:ln>
                <a:noFill/>
              </a:ln>
              <a:solidFill>
                <a:schemeClr val="tx1"/>
              </a:solidFill>
              <a:effectLst/>
              <a:latin typeface="Bahnschrift" panose="020B0502040204020203" pitchFamily="34" charset="0"/>
            </a:endParaRPr>
          </a:p>
        </p:txBody>
      </p:sp>
      <p:pic>
        <p:nvPicPr>
          <p:cNvPr id="3" name="Picture 2" descr="Nmap - Wikipedia, la enciclopedia libre">
            <a:extLst>
              <a:ext uri="{FF2B5EF4-FFF2-40B4-BE49-F238E27FC236}">
                <a16:creationId xmlns:a16="http://schemas.microsoft.com/office/drawing/2014/main" id="{9C76A528-C184-32D1-0EEC-3B7678BE15A0}"/>
              </a:ext>
            </a:extLst>
          </p:cNvPr>
          <p:cNvPicPr>
            <a:picLocks noChangeAspect="1"/>
          </p:cNvPicPr>
          <p:nvPr/>
        </p:nvPicPr>
        <p:blipFill>
          <a:blip r:embed="rId2"/>
          <a:stretch>
            <a:fillRect/>
          </a:stretch>
        </p:blipFill>
        <p:spPr>
          <a:xfrm>
            <a:off x="8639828" y="181367"/>
            <a:ext cx="3200400" cy="1714500"/>
          </a:xfrm>
          <a:prstGeom prst="rect">
            <a:avLst/>
          </a:prstGeom>
        </p:spPr>
      </p:pic>
      <p:sp>
        <p:nvSpPr>
          <p:cNvPr id="5" name="Rectangle 1">
            <a:extLst>
              <a:ext uri="{FF2B5EF4-FFF2-40B4-BE49-F238E27FC236}">
                <a16:creationId xmlns:a16="http://schemas.microsoft.com/office/drawing/2014/main" id="{EDC2F8E2-BC29-BDF2-58F3-47EEA9D8304E}"/>
              </a:ext>
            </a:extLst>
          </p:cNvPr>
          <p:cNvSpPr txBox="1">
            <a:spLocks noChangeArrowheads="1"/>
          </p:cNvSpPr>
          <p:nvPr/>
        </p:nvSpPr>
        <p:spPr bwMode="auto">
          <a:xfrm>
            <a:off x="870202" y="2844528"/>
            <a:ext cx="1045159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eaLnBrk="0" fontAlgn="base" hangingPunct="0">
              <a:lnSpc>
                <a:spcPct val="100000"/>
              </a:lnSpc>
              <a:spcBef>
                <a:spcPct val="0"/>
              </a:spcBef>
              <a:spcAft>
                <a:spcPct val="0"/>
              </a:spcAft>
              <a:buFontTx/>
              <a:buNone/>
            </a:pPr>
            <a:endParaRPr lang="es-MX" altLang="es-MX" sz="1400" b="1" dirty="0">
              <a:solidFill>
                <a:schemeClr val="tx1"/>
              </a:solidFill>
              <a:latin typeface="Bahnschrift" panose="020B0502040204020203" pitchFamily="34" charset="0"/>
            </a:endParaRPr>
          </a:p>
          <a:p>
            <a:pPr marL="0" indent="0" eaLnBrk="0" fontAlgn="base" hangingPunct="0">
              <a:lnSpc>
                <a:spcPct val="100000"/>
              </a:lnSpc>
              <a:spcBef>
                <a:spcPct val="0"/>
              </a:spcBef>
              <a:spcAft>
                <a:spcPct val="0"/>
              </a:spcAft>
              <a:buFontTx/>
              <a:buNone/>
            </a:pPr>
            <a:r>
              <a:rPr lang="es-MX" altLang="es-MX" sz="1400" b="1" dirty="0">
                <a:solidFill>
                  <a:schemeClr val="tx1"/>
                </a:solidFill>
                <a:latin typeface="Bahnschrift" panose="020B0502040204020203" pitchFamily="34" charset="0"/>
              </a:rPr>
              <a:t>2. Análisis de Tráfico y Red (Para túneles débiles)</a:t>
            </a:r>
          </a:p>
          <a:p>
            <a:pPr marL="0" indent="0" eaLnBrk="0" fontAlgn="base" hangingPunct="0">
              <a:lnSpc>
                <a:spcPct val="100000"/>
              </a:lnSpc>
              <a:spcBef>
                <a:spcPct val="0"/>
              </a:spcBef>
              <a:spcAft>
                <a:spcPct val="0"/>
              </a:spcAft>
              <a:buFontTx/>
              <a:buNone/>
            </a:pPr>
            <a:r>
              <a:rPr lang="es-MX" altLang="es-MX" sz="1400" dirty="0">
                <a:solidFill>
                  <a:schemeClr val="tx1"/>
                </a:solidFill>
                <a:latin typeface="Bahnschrift" panose="020B0502040204020203" pitchFamily="34" charset="0"/>
              </a:rPr>
              <a:t>Para detectar protocolos obsoletos (como SSLv3 o TLS 1.0) y </a:t>
            </a:r>
            <a:r>
              <a:rPr lang="es-MX" altLang="es-MX" sz="1400" dirty="0" err="1">
                <a:solidFill>
                  <a:schemeClr val="tx1"/>
                </a:solidFill>
                <a:latin typeface="Bahnschrift" panose="020B0502040204020203" pitchFamily="34" charset="0"/>
              </a:rPr>
              <a:t>ciphers</a:t>
            </a:r>
            <a:r>
              <a:rPr lang="es-MX" altLang="es-MX" sz="1400" dirty="0">
                <a:solidFill>
                  <a:schemeClr val="tx1"/>
                </a:solidFill>
                <a:latin typeface="Bahnschrift" panose="020B0502040204020203" pitchFamily="34" charset="0"/>
              </a:rPr>
              <a:t> que ya no sirven.</a:t>
            </a:r>
          </a:p>
          <a:p>
            <a:pPr marL="0" indent="0" eaLnBrk="0" fontAlgn="base" hangingPunct="0">
              <a:lnSpc>
                <a:spcPct val="100000"/>
              </a:lnSpc>
              <a:spcBef>
                <a:spcPct val="0"/>
              </a:spcBef>
              <a:spcAft>
                <a:spcPct val="0"/>
              </a:spcAft>
              <a:buFontTx/>
              <a:buChar char="•"/>
            </a:pPr>
            <a:r>
              <a:rPr lang="es-MX" altLang="es-MX" sz="1400" b="1" dirty="0" err="1">
                <a:solidFill>
                  <a:schemeClr val="tx1"/>
                </a:solidFill>
                <a:latin typeface="Bahnschrift" panose="020B0502040204020203" pitchFamily="34" charset="0"/>
              </a:rPr>
              <a:t>Qualys</a:t>
            </a:r>
            <a:r>
              <a:rPr lang="es-MX" altLang="es-MX" sz="1400" b="1" dirty="0">
                <a:solidFill>
                  <a:schemeClr val="tx1"/>
                </a:solidFill>
                <a:latin typeface="Bahnschrift" panose="020B0502040204020203" pitchFamily="34" charset="0"/>
              </a:rPr>
              <a:t> SSL </a:t>
            </a:r>
            <a:r>
              <a:rPr lang="es-MX" altLang="es-MX" sz="1400" b="1" dirty="0" err="1">
                <a:solidFill>
                  <a:schemeClr val="tx1"/>
                </a:solidFill>
                <a:latin typeface="Bahnschrift" panose="020B0502040204020203" pitchFamily="34" charset="0"/>
              </a:rPr>
              <a:t>Labs</a:t>
            </a:r>
            <a:r>
              <a:rPr lang="es-MX" altLang="es-MX" sz="1400" b="1" dirty="0">
                <a:solidFill>
                  <a:schemeClr val="tx1"/>
                </a:solidFill>
                <a:latin typeface="Bahnschrift" panose="020B0502040204020203" pitchFamily="34" charset="0"/>
              </a:rPr>
              <a:t>:</a:t>
            </a:r>
            <a:r>
              <a:rPr lang="es-MX" altLang="es-MX" sz="1400" dirty="0">
                <a:solidFill>
                  <a:schemeClr val="tx1"/>
                </a:solidFill>
                <a:latin typeface="Bahnschrift" panose="020B0502040204020203" pitchFamily="34" charset="0"/>
              </a:rPr>
              <a:t> La herramienta estándar de oro para auditar servidores web públicos. Te da una calificación de la A </a:t>
            </a:r>
            <a:r>
              <a:rPr lang="es-MX" altLang="es-MX" sz="1400" dirty="0" err="1">
                <a:solidFill>
                  <a:schemeClr val="tx1"/>
                </a:solidFill>
                <a:latin typeface="Bahnschrift" panose="020B0502040204020203" pitchFamily="34" charset="0"/>
              </a:rPr>
              <a:t>a</a:t>
            </a:r>
            <a:r>
              <a:rPr lang="es-MX" altLang="es-MX" sz="1400" dirty="0">
                <a:solidFill>
                  <a:schemeClr val="tx1"/>
                </a:solidFill>
                <a:latin typeface="Bahnschrift" panose="020B0502040204020203" pitchFamily="34" charset="0"/>
              </a:rPr>
              <a:t> la F.</a:t>
            </a:r>
          </a:p>
          <a:p>
            <a:pPr marL="0" indent="0" eaLnBrk="0" fontAlgn="base" hangingPunct="0">
              <a:lnSpc>
                <a:spcPct val="100000"/>
              </a:lnSpc>
              <a:spcBef>
                <a:spcPct val="0"/>
              </a:spcBef>
              <a:spcAft>
                <a:spcPct val="0"/>
              </a:spcAft>
              <a:buFontTx/>
              <a:buChar char="•"/>
            </a:pPr>
            <a:r>
              <a:rPr lang="es-MX" altLang="es-MX" sz="1400" b="1" dirty="0" err="1">
                <a:solidFill>
                  <a:schemeClr val="tx1"/>
                </a:solidFill>
                <a:latin typeface="Bahnschrift" panose="020B0502040204020203" pitchFamily="34" charset="0"/>
              </a:rPr>
              <a:t>Nmap</a:t>
            </a:r>
            <a:r>
              <a:rPr lang="es-MX" altLang="es-MX" sz="1400" b="1" dirty="0">
                <a:solidFill>
                  <a:schemeClr val="tx1"/>
                </a:solidFill>
                <a:latin typeface="Bahnschrift" panose="020B0502040204020203" pitchFamily="34" charset="0"/>
              </a:rPr>
              <a:t> (con scripts NSE):</a:t>
            </a:r>
            <a:r>
              <a:rPr lang="es-MX" altLang="es-MX" sz="1400" dirty="0">
                <a:solidFill>
                  <a:schemeClr val="tx1"/>
                </a:solidFill>
                <a:latin typeface="Bahnschrift" panose="020B0502040204020203" pitchFamily="34" charset="0"/>
              </a:rPr>
              <a:t> Usando el comando </a:t>
            </a:r>
            <a:r>
              <a:rPr lang="es-MX" altLang="es-MX" sz="1400" dirty="0" err="1">
                <a:solidFill>
                  <a:schemeClr val="tx1"/>
                </a:solidFill>
                <a:latin typeface="Bahnschrift" panose="020B0502040204020203" pitchFamily="34" charset="0"/>
              </a:rPr>
              <a:t>nmap</a:t>
            </a:r>
            <a:r>
              <a:rPr lang="es-MX" altLang="es-MX" sz="1400" dirty="0">
                <a:solidFill>
                  <a:schemeClr val="tx1"/>
                </a:solidFill>
                <a:latin typeface="Bahnschrift" panose="020B0502040204020203" pitchFamily="34" charset="0"/>
              </a:rPr>
              <a:t> --script </a:t>
            </a:r>
            <a:r>
              <a:rPr lang="es-MX" altLang="es-MX" sz="1400" dirty="0" err="1">
                <a:solidFill>
                  <a:schemeClr val="tx1"/>
                </a:solidFill>
                <a:latin typeface="Bahnschrift" panose="020B0502040204020203" pitchFamily="34" charset="0"/>
              </a:rPr>
              <a:t>ssl-enum-ciphers</a:t>
            </a:r>
            <a:r>
              <a:rPr lang="es-MX" altLang="es-MX" sz="1400" dirty="0">
                <a:solidFill>
                  <a:schemeClr val="tx1"/>
                </a:solidFill>
                <a:latin typeface="Bahnschrift" panose="020B0502040204020203" pitchFamily="34" charset="0"/>
              </a:rPr>
              <a:t>, puedes ver qué algoritmos acepta un servidor.</a:t>
            </a:r>
          </a:p>
          <a:p>
            <a:pPr marL="0" indent="0" eaLnBrk="0" fontAlgn="base" hangingPunct="0">
              <a:lnSpc>
                <a:spcPct val="100000"/>
              </a:lnSpc>
              <a:spcBef>
                <a:spcPct val="0"/>
              </a:spcBef>
              <a:spcAft>
                <a:spcPct val="0"/>
              </a:spcAft>
              <a:buFontTx/>
              <a:buChar char="•"/>
            </a:pPr>
            <a:r>
              <a:rPr lang="es-MX" altLang="es-MX" sz="1400" b="1" dirty="0">
                <a:solidFill>
                  <a:schemeClr val="tx1"/>
                </a:solidFill>
                <a:latin typeface="Bahnschrift" panose="020B0502040204020203" pitchFamily="34" charset="0"/>
              </a:rPr>
              <a:t>Testssl.sh:</a:t>
            </a:r>
            <a:r>
              <a:rPr lang="es-MX" altLang="es-MX" sz="1400" dirty="0">
                <a:solidFill>
                  <a:schemeClr val="tx1"/>
                </a:solidFill>
                <a:latin typeface="Bahnschrift" panose="020B0502040204020203" pitchFamily="34" charset="0"/>
              </a:rPr>
              <a:t> Una joya de la terminal. Es un script de Linux que analiza cualquier puerto y te dice si es vulnerable a ataques como BEAST, LUCKY13 o POODLE.</a:t>
            </a:r>
          </a:p>
          <a:p>
            <a:pPr marL="0" indent="0" eaLnBrk="0" fontAlgn="base" hangingPunct="0">
              <a:lnSpc>
                <a:spcPct val="100000"/>
              </a:lnSpc>
              <a:spcBef>
                <a:spcPct val="0"/>
              </a:spcBef>
              <a:spcAft>
                <a:spcPct val="0"/>
              </a:spcAft>
              <a:buFontTx/>
              <a:buNone/>
            </a:pPr>
            <a:endParaRPr lang="es-MX" altLang="es-MX" sz="1400" b="1" dirty="0">
              <a:solidFill>
                <a:schemeClr val="tx1"/>
              </a:solidFill>
              <a:latin typeface="Bahnschrift" panose="020B0502040204020203" pitchFamily="34" charset="0"/>
            </a:endParaRPr>
          </a:p>
        </p:txBody>
      </p:sp>
      <p:sp>
        <p:nvSpPr>
          <p:cNvPr id="6" name="Rectangle 1">
            <a:extLst>
              <a:ext uri="{FF2B5EF4-FFF2-40B4-BE49-F238E27FC236}">
                <a16:creationId xmlns:a16="http://schemas.microsoft.com/office/drawing/2014/main" id="{90AD4AA5-CD61-A41C-F089-191759252100}"/>
              </a:ext>
            </a:extLst>
          </p:cNvPr>
          <p:cNvSpPr txBox="1">
            <a:spLocks noChangeArrowheads="1"/>
          </p:cNvSpPr>
          <p:nvPr/>
        </p:nvSpPr>
        <p:spPr bwMode="auto">
          <a:xfrm>
            <a:off x="870201" y="4660410"/>
            <a:ext cx="1045159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eaLnBrk="0" fontAlgn="base" hangingPunct="0">
              <a:lnSpc>
                <a:spcPct val="100000"/>
              </a:lnSpc>
              <a:spcBef>
                <a:spcPct val="0"/>
              </a:spcBef>
              <a:spcAft>
                <a:spcPct val="0"/>
              </a:spcAft>
              <a:buFontTx/>
              <a:buNone/>
            </a:pPr>
            <a:r>
              <a:rPr lang="es-MX" altLang="es-MX" sz="1400" b="1" dirty="0">
                <a:solidFill>
                  <a:schemeClr val="tx1"/>
                </a:solidFill>
                <a:latin typeface="Bahnschrift" panose="020B0502040204020203" pitchFamily="34" charset="0"/>
              </a:rPr>
              <a:t>3. Análisis Estático (SAST) y Dinámico (DAST)</a:t>
            </a:r>
          </a:p>
          <a:p>
            <a:pPr marL="0" indent="0" eaLnBrk="0" fontAlgn="base" hangingPunct="0">
              <a:lnSpc>
                <a:spcPct val="100000"/>
              </a:lnSpc>
              <a:spcBef>
                <a:spcPct val="0"/>
              </a:spcBef>
              <a:spcAft>
                <a:spcPct val="0"/>
              </a:spcAft>
              <a:buFontTx/>
              <a:buNone/>
            </a:pPr>
            <a:r>
              <a:rPr lang="es-MX" altLang="es-MX" sz="1400" dirty="0">
                <a:solidFill>
                  <a:schemeClr val="tx1"/>
                </a:solidFill>
                <a:latin typeface="Bahnschrift" panose="020B0502040204020203" pitchFamily="34" charset="0"/>
              </a:rPr>
              <a:t>Para encontrar algoritmos débiles (MD5, SHA1) directamente en la lógica de la app.</a:t>
            </a:r>
          </a:p>
          <a:p>
            <a:pPr marL="0" indent="0" eaLnBrk="0" fontAlgn="base" hangingPunct="0">
              <a:lnSpc>
                <a:spcPct val="100000"/>
              </a:lnSpc>
              <a:spcBef>
                <a:spcPct val="0"/>
              </a:spcBef>
              <a:spcAft>
                <a:spcPct val="0"/>
              </a:spcAft>
              <a:buFontTx/>
              <a:buChar char="•"/>
            </a:pPr>
            <a:r>
              <a:rPr lang="es-MX" altLang="es-MX" sz="1400" b="1" dirty="0" err="1">
                <a:solidFill>
                  <a:schemeClr val="tx1"/>
                </a:solidFill>
                <a:latin typeface="Bahnschrift" panose="020B0502040204020203" pitchFamily="34" charset="0"/>
              </a:rPr>
              <a:t>Semgrep</a:t>
            </a:r>
            <a:r>
              <a:rPr lang="es-MX" altLang="es-MX" sz="1400" b="1" dirty="0">
                <a:solidFill>
                  <a:schemeClr val="tx1"/>
                </a:solidFill>
                <a:latin typeface="Bahnschrift" panose="020B0502040204020203" pitchFamily="34" charset="0"/>
              </a:rPr>
              <a:t>:</a:t>
            </a:r>
            <a:r>
              <a:rPr lang="es-MX" altLang="es-MX" sz="1400" dirty="0">
                <a:solidFill>
                  <a:schemeClr val="tx1"/>
                </a:solidFill>
                <a:latin typeface="Bahnschrift" panose="020B0502040204020203" pitchFamily="34" charset="0"/>
              </a:rPr>
              <a:t> Puedes usar reglas personalizadas para buscar funciones prohibidas como hashlib.md5() en Python o </a:t>
            </a:r>
            <a:r>
              <a:rPr lang="es-MX" altLang="es-MX" sz="1400" dirty="0" err="1">
                <a:solidFill>
                  <a:schemeClr val="tx1"/>
                </a:solidFill>
                <a:latin typeface="Bahnschrift" panose="020B0502040204020203" pitchFamily="34" charset="0"/>
              </a:rPr>
              <a:t>Random</a:t>
            </a:r>
            <a:r>
              <a:rPr lang="es-MX" altLang="es-MX" sz="1400" dirty="0">
                <a:solidFill>
                  <a:schemeClr val="tx1"/>
                </a:solidFill>
                <a:latin typeface="Bahnschrift" panose="020B0502040204020203" pitchFamily="34" charset="0"/>
              </a:rPr>
              <a:t>() en Java en lugar de </a:t>
            </a:r>
            <a:r>
              <a:rPr lang="es-MX" altLang="es-MX" sz="1400" dirty="0" err="1">
                <a:solidFill>
                  <a:schemeClr val="tx1"/>
                </a:solidFill>
                <a:latin typeface="Bahnschrift" panose="020B0502040204020203" pitchFamily="34" charset="0"/>
              </a:rPr>
              <a:t>SecureRandom</a:t>
            </a:r>
            <a:r>
              <a:rPr lang="es-MX" altLang="es-MX" sz="1400" dirty="0">
                <a:solidFill>
                  <a:schemeClr val="tx1"/>
                </a:solidFill>
                <a:latin typeface="Bahnschrift" panose="020B0502040204020203" pitchFamily="34" charset="0"/>
              </a:rPr>
              <a:t>().</a:t>
            </a:r>
          </a:p>
          <a:p>
            <a:pPr marL="0" indent="0" eaLnBrk="0" fontAlgn="base" hangingPunct="0">
              <a:lnSpc>
                <a:spcPct val="100000"/>
              </a:lnSpc>
              <a:spcBef>
                <a:spcPct val="0"/>
              </a:spcBef>
              <a:spcAft>
                <a:spcPct val="0"/>
              </a:spcAft>
              <a:buFontTx/>
              <a:buChar char="•"/>
            </a:pPr>
            <a:r>
              <a:rPr lang="es-MX" altLang="es-MX" sz="1400" b="1" dirty="0" err="1">
                <a:solidFill>
                  <a:schemeClr val="tx1"/>
                </a:solidFill>
                <a:latin typeface="Bahnschrift" panose="020B0502040204020203" pitchFamily="34" charset="0"/>
              </a:rPr>
              <a:t>Burp</a:t>
            </a:r>
            <a:r>
              <a:rPr lang="es-MX" altLang="es-MX" sz="1400" b="1" dirty="0">
                <a:solidFill>
                  <a:schemeClr val="tx1"/>
                </a:solidFill>
                <a:latin typeface="Bahnschrift" panose="020B0502040204020203" pitchFamily="34" charset="0"/>
              </a:rPr>
              <a:t> Suite:</a:t>
            </a:r>
            <a:r>
              <a:rPr lang="es-MX" altLang="es-MX" sz="1400" dirty="0">
                <a:solidFill>
                  <a:schemeClr val="tx1"/>
                </a:solidFill>
                <a:latin typeface="Bahnschrift" panose="020B0502040204020203" pitchFamily="34" charset="0"/>
              </a:rPr>
              <a:t> Durante una auditoría en vivo, estas herramientas detectan si las cookies no están cifradas o si falta el encabezado </a:t>
            </a:r>
            <a:r>
              <a:rPr lang="es-MX" altLang="es-MX" sz="1400" b="1" dirty="0">
                <a:solidFill>
                  <a:schemeClr val="tx1"/>
                </a:solidFill>
                <a:latin typeface="Bahnschrift" panose="020B0502040204020203" pitchFamily="34" charset="0"/>
              </a:rPr>
              <a:t>HSTS</a:t>
            </a:r>
            <a:r>
              <a:rPr lang="es-MX" altLang="es-MX" sz="1400" dirty="0">
                <a:solidFill>
                  <a:schemeClr val="tx1"/>
                </a:solidFill>
                <a:latin typeface="Bahnschrift" panose="020B0502040204020203" pitchFamily="34" charset="0"/>
              </a:rPr>
              <a:t>.</a:t>
            </a:r>
          </a:p>
        </p:txBody>
      </p:sp>
      <p:sp>
        <p:nvSpPr>
          <p:cNvPr id="7" name="TextBox 6">
            <a:extLst>
              <a:ext uri="{FF2B5EF4-FFF2-40B4-BE49-F238E27FC236}">
                <a16:creationId xmlns:a16="http://schemas.microsoft.com/office/drawing/2014/main" id="{3B5E44EC-FFB8-877E-AF5E-411EA720B463}"/>
              </a:ext>
            </a:extLst>
          </p:cNvPr>
          <p:cNvSpPr txBox="1"/>
          <p:nvPr/>
        </p:nvSpPr>
        <p:spPr>
          <a:xfrm>
            <a:off x="11745468" y="6491967"/>
            <a:ext cx="446532" cy="369332"/>
          </a:xfrm>
          <a:prstGeom prst="rect">
            <a:avLst/>
          </a:prstGeom>
          <a:noFill/>
        </p:spPr>
        <p:txBody>
          <a:bodyPr wrap="none" rtlCol="0">
            <a:spAutoFit/>
          </a:bodyPr>
          <a:lstStyle/>
          <a:p>
            <a:pPr>
              <a:spcAft>
                <a:spcPts val="600"/>
              </a:spcAft>
            </a:pPr>
            <a:r>
              <a:rPr lang="es-MX" dirty="0"/>
              <a:t>10</a:t>
            </a:r>
            <a:endParaRPr lang="en-US" dirty="0"/>
          </a:p>
        </p:txBody>
      </p:sp>
    </p:spTree>
    <p:extLst>
      <p:ext uri="{BB962C8B-B14F-4D97-AF65-F5344CB8AC3E}">
        <p14:creationId xmlns:p14="http://schemas.microsoft.com/office/powerpoint/2010/main" val="204650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hidden"/>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par>
                                <p:cTn id="24" presetID="1" presetClass="exit" presetSubtype="0" fill="hold" grpId="1" nodeType="withEffect">
                                  <p:stCondLst>
                                    <p:cond delay="0"/>
                                  </p:stCondLst>
                                  <p:childTnLst>
                                    <p:set>
                                      <p:cBhvr>
                                        <p:cTn id="25" dur="1" fill="hold">
                                          <p:stCondLst>
                                            <p:cond delay="0"/>
                                          </p:stCondLst>
                                        </p:cTn>
                                        <p:tgtEl>
                                          <p:spTgt spid="5"/>
                                        </p:tgtEl>
                                        <p:attrNameLst>
                                          <p:attrName>style.visibility</p:attrName>
                                        </p:attrNameLst>
                                      </p:cBhvr>
                                      <p:to>
                                        <p:strVal val="hidden"/>
                                      </p:to>
                                    </p:set>
                                  </p:childTnLst>
                                </p:cTn>
                              </p:par>
                            </p:childTnLst>
                          </p:cTn>
                        </p:par>
                        <p:par>
                          <p:cTn id="26" fill="hold">
                            <p:stCondLst>
                              <p:cond delay="0"/>
                            </p:stCondLst>
                            <p:childTnLst>
                              <p:par>
                                <p:cTn id="27" presetID="1" presetClass="exit" presetSubtype="0" fill="hold" nodeType="afterEffect">
                                  <p:stCondLst>
                                    <p:cond delay="0"/>
                                  </p:stCondLst>
                                  <p:childTnLst>
                                    <p:set>
                                      <p:cBhvr>
                                        <p:cTn id="2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5" grpId="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BC8768-49D2-F646-BFE1-4FBFF949EA6B}"/>
              </a:ext>
            </a:extLst>
          </p:cNvPr>
          <p:cNvSpPr>
            <a:spLocks noGrp="1"/>
          </p:cNvSpPr>
          <p:nvPr>
            <p:ph type="title"/>
          </p:nvPr>
        </p:nvSpPr>
        <p:spPr/>
        <p:txBody>
          <a:bodyPr/>
          <a:lstStyle/>
          <a:p>
            <a:r>
              <a:rPr lang="es-MX" b="1" dirty="0">
                <a:latin typeface="Bahnschrift" panose="020B0502040204020203" pitchFamily="34" charset="0"/>
              </a:rPr>
              <a:t>Indicadores de Compromiso (</a:t>
            </a:r>
            <a:r>
              <a:rPr lang="es-MX" b="1" dirty="0" err="1">
                <a:latin typeface="Bahnschrift" panose="020B0502040204020203" pitchFamily="34" charset="0"/>
              </a:rPr>
              <a:t>IoC</a:t>
            </a:r>
            <a:r>
              <a:rPr lang="es-MX" b="1" dirty="0">
                <a:latin typeface="Bahnschrift" panose="020B0502040204020203" pitchFamily="34" charset="0"/>
              </a:rPr>
              <a:t>)</a:t>
            </a:r>
            <a:br>
              <a:rPr lang="es-MX" b="1" dirty="0">
                <a:latin typeface="Bahnschrift" panose="020B0502040204020203" pitchFamily="34" charset="0"/>
              </a:rPr>
            </a:br>
            <a:endParaRPr lang="es-MX" dirty="0">
              <a:latin typeface="Bahnschrift" panose="020B0502040204020203" pitchFamily="34" charset="0"/>
            </a:endParaRPr>
          </a:p>
        </p:txBody>
      </p:sp>
      <p:sp>
        <p:nvSpPr>
          <p:cNvPr id="3" name="Marcador de contenido 2">
            <a:extLst>
              <a:ext uri="{FF2B5EF4-FFF2-40B4-BE49-F238E27FC236}">
                <a16:creationId xmlns:a16="http://schemas.microsoft.com/office/drawing/2014/main" id="{0C756945-A5CC-EC9D-0D6D-DDA7CFA96CE2}"/>
              </a:ext>
            </a:extLst>
          </p:cNvPr>
          <p:cNvSpPr>
            <a:spLocks noGrp="1"/>
          </p:cNvSpPr>
          <p:nvPr>
            <p:ph idx="1"/>
          </p:nvPr>
        </p:nvSpPr>
        <p:spPr>
          <a:xfrm>
            <a:off x="1371600" y="1728216"/>
            <a:ext cx="9601200" cy="4139184"/>
          </a:xfrm>
        </p:spPr>
        <p:txBody>
          <a:bodyPr>
            <a:normAutofit/>
          </a:bodyPr>
          <a:lstStyle/>
          <a:p>
            <a:r>
              <a:rPr lang="es-ES" b="1" dirty="0">
                <a:latin typeface="Bahnschrift" panose="020B0502040204020203" pitchFamily="34" charset="0"/>
              </a:rPr>
              <a:t>1. </a:t>
            </a:r>
            <a:r>
              <a:rPr lang="es-ES" b="1" dirty="0" err="1">
                <a:latin typeface="Bahnschrift" panose="020B0502040204020203" pitchFamily="34" charset="0"/>
              </a:rPr>
              <a:t>IoC</a:t>
            </a:r>
            <a:r>
              <a:rPr lang="es-ES" b="1" dirty="0">
                <a:latin typeface="Bahnschrift" panose="020B0502040204020203" pitchFamily="34" charset="0"/>
              </a:rPr>
              <a:t> a Nivel de Red (Tráfico)</a:t>
            </a:r>
          </a:p>
          <a:p>
            <a:pPr marL="0" indent="0">
              <a:buNone/>
            </a:pPr>
            <a:r>
              <a:rPr lang="es-ES" b="1" dirty="0">
                <a:latin typeface="Bahnschrift" panose="020B0502040204020203" pitchFamily="34" charset="0"/>
              </a:rPr>
              <a:t>Uso de Protocolos Obsoletos:</a:t>
            </a:r>
            <a:r>
              <a:rPr lang="es-ES" dirty="0">
                <a:latin typeface="Bahnschrift" panose="020B0502040204020203" pitchFamily="34" charset="0"/>
              </a:rPr>
              <a:t> Detección de sesiones activas usando </a:t>
            </a:r>
            <a:r>
              <a:rPr lang="es-ES" b="1" dirty="0">
                <a:latin typeface="Bahnschrift" panose="020B0502040204020203" pitchFamily="34" charset="0"/>
              </a:rPr>
              <a:t>TLS 1.0, 1.1</a:t>
            </a:r>
            <a:r>
              <a:rPr lang="es-ES" dirty="0">
                <a:latin typeface="Bahnschrift" panose="020B0502040204020203" pitchFamily="34" charset="0"/>
              </a:rPr>
              <a:t> o, peor aún, </a:t>
            </a:r>
            <a:r>
              <a:rPr lang="es-ES" b="1" dirty="0">
                <a:latin typeface="Bahnschrift" panose="020B0502040204020203" pitchFamily="34" charset="0"/>
              </a:rPr>
              <a:t>SSLv3</a:t>
            </a:r>
            <a:r>
              <a:rPr lang="es-ES" dirty="0">
                <a:latin typeface="Bahnschrift" panose="020B0502040204020203" pitchFamily="34" charset="0"/>
              </a:rPr>
              <a:t>.</a:t>
            </a:r>
          </a:p>
          <a:p>
            <a:pPr marL="0" indent="0">
              <a:buNone/>
            </a:pPr>
            <a:r>
              <a:rPr lang="es-ES" b="1" dirty="0">
                <a:latin typeface="Bahnschrift" panose="020B0502040204020203" pitchFamily="34" charset="0"/>
              </a:rPr>
              <a:t>Tráfico en Texto Plano:</a:t>
            </a:r>
            <a:r>
              <a:rPr lang="es-ES" dirty="0">
                <a:latin typeface="Bahnschrift" panose="020B0502040204020203" pitchFamily="34" charset="0"/>
              </a:rPr>
              <a:t> Paquetes capturados en puertos que deberían estar cifrados, pero no lo están (ej. tráfico sensible por puerto 80 en lugar de 443).</a:t>
            </a:r>
          </a:p>
          <a:p>
            <a:pPr marL="0" indent="0">
              <a:buNone/>
            </a:pPr>
            <a:r>
              <a:rPr lang="es-ES" b="1" dirty="0">
                <a:latin typeface="Bahnschrift" panose="020B0502040204020203" pitchFamily="34" charset="0"/>
              </a:rPr>
              <a:t>Alertas de "</a:t>
            </a:r>
            <a:r>
              <a:rPr lang="es-ES" b="1" dirty="0" err="1">
                <a:latin typeface="Bahnschrift" panose="020B0502040204020203" pitchFamily="34" charset="0"/>
              </a:rPr>
              <a:t>Cipher</a:t>
            </a:r>
            <a:r>
              <a:rPr lang="es-ES" b="1" dirty="0">
                <a:latin typeface="Bahnschrift" panose="020B0502040204020203" pitchFamily="34" charset="0"/>
              </a:rPr>
              <a:t> </a:t>
            </a:r>
            <a:r>
              <a:rPr lang="es-ES" b="1" dirty="0" err="1">
                <a:latin typeface="Bahnschrift" panose="020B0502040204020203" pitchFamily="34" charset="0"/>
              </a:rPr>
              <a:t>Mismatch</a:t>
            </a:r>
            <a:r>
              <a:rPr lang="es-ES" b="1" dirty="0">
                <a:latin typeface="Bahnschrift" panose="020B0502040204020203" pitchFamily="34" charset="0"/>
              </a:rPr>
              <a:t>":</a:t>
            </a:r>
            <a:r>
              <a:rPr lang="es-ES" dirty="0">
                <a:latin typeface="Bahnschrift" panose="020B0502040204020203" pitchFamily="34" charset="0"/>
              </a:rPr>
              <a:t> Logs del Firewall o WAF indicando que se intentaron negociar algoritmos de cifrado débiles (como </a:t>
            </a:r>
            <a:r>
              <a:rPr lang="es-ES" b="1" dirty="0">
                <a:latin typeface="Bahnschrift" panose="020B0502040204020203" pitchFamily="34" charset="0"/>
              </a:rPr>
              <a:t>RC4, DES o 3DES</a:t>
            </a:r>
            <a:r>
              <a:rPr lang="es-ES" dirty="0">
                <a:latin typeface="Bahnschrift" panose="020B0502040204020203" pitchFamily="34" charset="0"/>
              </a:rPr>
              <a:t>).</a:t>
            </a:r>
          </a:p>
          <a:p>
            <a:pPr marL="0" indent="0">
              <a:buNone/>
            </a:pPr>
            <a:endParaRPr lang="es-ES" dirty="0">
              <a:latin typeface="Bahnschrift" panose="020B0502040204020203" pitchFamily="34" charset="0"/>
            </a:endParaRPr>
          </a:p>
          <a:p>
            <a:pPr marL="0" indent="0">
              <a:buNone/>
            </a:pPr>
            <a:endParaRPr lang="es-ES" dirty="0">
              <a:latin typeface="Bahnschrift" panose="020B0502040204020203" pitchFamily="34" charset="0"/>
            </a:endParaRPr>
          </a:p>
          <a:p>
            <a:pPr marL="0" indent="0">
              <a:buNone/>
            </a:pPr>
            <a:endParaRPr lang="es-ES" dirty="0">
              <a:latin typeface="Bahnschrift" panose="020B0502040204020203" pitchFamily="34" charset="0"/>
            </a:endParaRPr>
          </a:p>
        </p:txBody>
      </p:sp>
      <p:pic>
        <p:nvPicPr>
          <p:cNvPr id="6146" name="Picture 2" descr="Wireshark">
            <a:extLst>
              <a:ext uri="{FF2B5EF4-FFF2-40B4-BE49-F238E27FC236}">
                <a16:creationId xmlns:a16="http://schemas.microsoft.com/office/drawing/2014/main" id="{796A22AF-E677-7136-6379-80843D1234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7874" y="5124449"/>
            <a:ext cx="1476252" cy="14859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AABE573-1B29-2F41-AC77-0DDCBCFA9B50}"/>
              </a:ext>
            </a:extLst>
          </p:cNvPr>
          <p:cNvSpPr txBox="1"/>
          <p:nvPr/>
        </p:nvSpPr>
        <p:spPr>
          <a:xfrm>
            <a:off x="11745468" y="6491967"/>
            <a:ext cx="449803" cy="369332"/>
          </a:xfrm>
          <a:prstGeom prst="rect">
            <a:avLst/>
          </a:prstGeom>
          <a:noFill/>
        </p:spPr>
        <p:txBody>
          <a:bodyPr wrap="none" rtlCol="0">
            <a:spAutoFit/>
          </a:bodyPr>
          <a:lstStyle/>
          <a:p>
            <a:pPr>
              <a:spcAft>
                <a:spcPts val="600"/>
              </a:spcAft>
            </a:pPr>
            <a:r>
              <a:rPr lang="es-MX" dirty="0"/>
              <a:t>11</a:t>
            </a:r>
            <a:endParaRPr lang="en-US" dirty="0"/>
          </a:p>
        </p:txBody>
      </p:sp>
    </p:spTree>
    <p:extLst>
      <p:ext uri="{BB962C8B-B14F-4D97-AF65-F5344CB8AC3E}">
        <p14:creationId xmlns:p14="http://schemas.microsoft.com/office/powerpoint/2010/main" val="4000183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BC8768-49D2-F646-BFE1-4FBFF949EA6B}"/>
              </a:ext>
            </a:extLst>
          </p:cNvPr>
          <p:cNvSpPr>
            <a:spLocks noGrp="1"/>
          </p:cNvSpPr>
          <p:nvPr>
            <p:ph type="title"/>
          </p:nvPr>
        </p:nvSpPr>
        <p:spPr/>
        <p:txBody>
          <a:bodyPr/>
          <a:lstStyle/>
          <a:p>
            <a:r>
              <a:rPr lang="es-MX" b="1" dirty="0">
                <a:latin typeface="Bahnschrift" panose="020B0502040204020203" pitchFamily="34" charset="0"/>
              </a:rPr>
              <a:t>Indicadores de Compromiso (</a:t>
            </a:r>
            <a:r>
              <a:rPr lang="es-MX" b="1" dirty="0" err="1">
                <a:latin typeface="Bahnschrift" panose="020B0502040204020203" pitchFamily="34" charset="0"/>
              </a:rPr>
              <a:t>IoC</a:t>
            </a:r>
            <a:r>
              <a:rPr lang="es-MX" b="1" dirty="0">
                <a:latin typeface="Bahnschrift" panose="020B0502040204020203" pitchFamily="34" charset="0"/>
              </a:rPr>
              <a:t>)</a:t>
            </a:r>
            <a:br>
              <a:rPr lang="es-MX" b="1" dirty="0">
                <a:latin typeface="Bahnschrift" panose="020B0502040204020203" pitchFamily="34" charset="0"/>
              </a:rPr>
            </a:br>
            <a:endParaRPr lang="es-MX" dirty="0">
              <a:latin typeface="Bahnschrift" panose="020B0502040204020203" pitchFamily="34" charset="0"/>
            </a:endParaRPr>
          </a:p>
        </p:txBody>
      </p:sp>
      <p:sp>
        <p:nvSpPr>
          <p:cNvPr id="3" name="Marcador de contenido 2">
            <a:extLst>
              <a:ext uri="{FF2B5EF4-FFF2-40B4-BE49-F238E27FC236}">
                <a16:creationId xmlns:a16="http://schemas.microsoft.com/office/drawing/2014/main" id="{0C756945-A5CC-EC9D-0D6D-DDA7CFA96CE2}"/>
              </a:ext>
            </a:extLst>
          </p:cNvPr>
          <p:cNvSpPr>
            <a:spLocks noGrp="1"/>
          </p:cNvSpPr>
          <p:nvPr>
            <p:ph idx="1"/>
          </p:nvPr>
        </p:nvSpPr>
        <p:spPr>
          <a:xfrm>
            <a:off x="1371600" y="1728216"/>
            <a:ext cx="9601200" cy="4139184"/>
          </a:xfrm>
        </p:spPr>
        <p:txBody>
          <a:bodyPr>
            <a:normAutofit/>
          </a:bodyPr>
          <a:lstStyle/>
          <a:p>
            <a:pPr marL="0" indent="0">
              <a:buNone/>
            </a:pPr>
            <a:endParaRPr lang="es-ES" dirty="0">
              <a:latin typeface="Bahnschrift" panose="020B0502040204020203" pitchFamily="34" charset="0"/>
            </a:endParaRPr>
          </a:p>
          <a:p>
            <a:r>
              <a:rPr lang="es-ES" b="1" dirty="0">
                <a:latin typeface="Bahnschrift" panose="020B0502040204020203" pitchFamily="34" charset="0"/>
              </a:rPr>
              <a:t>2. </a:t>
            </a:r>
            <a:r>
              <a:rPr lang="es-ES" b="1" dirty="0" err="1">
                <a:latin typeface="Bahnschrift" panose="020B0502040204020203" pitchFamily="34" charset="0"/>
              </a:rPr>
              <a:t>IoC</a:t>
            </a:r>
            <a:r>
              <a:rPr lang="es-ES" b="1" dirty="0">
                <a:latin typeface="Bahnschrift" panose="020B0502040204020203" pitchFamily="34" charset="0"/>
              </a:rPr>
              <a:t> a Nivel de Logs y Sistema (Herramientas recomendadas: </a:t>
            </a:r>
            <a:r>
              <a:rPr lang="es-MX" dirty="0">
                <a:highlight>
                  <a:srgbClr val="FFFF00"/>
                </a:highlight>
              </a:rPr>
              <a:t>SIEM </a:t>
            </a:r>
            <a:r>
              <a:rPr lang="es-MX" dirty="0" err="1">
                <a:highlight>
                  <a:srgbClr val="FFFF00"/>
                </a:highlight>
              </a:rPr>
              <a:t>Splunk</a:t>
            </a:r>
            <a:r>
              <a:rPr lang="es-MX" dirty="0">
                <a:highlight>
                  <a:srgbClr val="FFFF00"/>
                </a:highlight>
              </a:rPr>
              <a:t> / Microsoft </a:t>
            </a:r>
            <a:r>
              <a:rPr lang="es-MX" dirty="0" err="1">
                <a:highlight>
                  <a:srgbClr val="FFFF00"/>
                </a:highlight>
              </a:rPr>
              <a:t>Sentinel</a:t>
            </a:r>
            <a:r>
              <a:rPr lang="es-MX" dirty="0">
                <a:highlight>
                  <a:srgbClr val="FFFF00"/>
                </a:highlight>
              </a:rPr>
              <a:t>/XSIAM/Google </a:t>
            </a:r>
            <a:r>
              <a:rPr lang="es-MX" dirty="0" err="1">
                <a:highlight>
                  <a:srgbClr val="FFFF00"/>
                </a:highlight>
              </a:rPr>
              <a:t>SecOPS</a:t>
            </a:r>
            <a:r>
              <a:rPr lang="es-ES" b="1" dirty="0">
                <a:latin typeface="Bahnschrift" panose="020B0502040204020203" pitchFamily="34" charset="0"/>
              </a:rPr>
              <a:t>)</a:t>
            </a:r>
          </a:p>
          <a:p>
            <a:pPr marL="0" indent="0">
              <a:buNone/>
            </a:pPr>
            <a:r>
              <a:rPr lang="es-ES" b="1" dirty="0">
                <a:latin typeface="Bahnschrift" panose="020B0502040204020203" pitchFamily="34" charset="0"/>
              </a:rPr>
              <a:t>Acceso Inusual a Llaves (KMS):</a:t>
            </a:r>
            <a:r>
              <a:rPr lang="es-ES" dirty="0">
                <a:latin typeface="Bahnschrift" panose="020B0502040204020203" pitchFamily="34" charset="0"/>
              </a:rPr>
              <a:t> Un pico repentino en las solicitudes de "Descifrado" (</a:t>
            </a:r>
            <a:r>
              <a:rPr lang="es-ES" dirty="0" err="1">
                <a:latin typeface="Bahnschrift" panose="020B0502040204020203" pitchFamily="34" charset="0"/>
              </a:rPr>
              <a:t>Decrypt</a:t>
            </a:r>
            <a:r>
              <a:rPr lang="es-ES" dirty="0">
                <a:latin typeface="Bahnschrift" panose="020B0502040204020203" pitchFamily="34" charset="0"/>
              </a:rPr>
              <a:t>) desde una cuenta de servicio o una </a:t>
            </a:r>
            <a:r>
              <a:rPr lang="es-ES" dirty="0">
                <a:highlight>
                  <a:srgbClr val="FFFF00"/>
                </a:highlight>
                <a:latin typeface="Bahnschrift" panose="020B0502040204020203" pitchFamily="34" charset="0"/>
              </a:rPr>
              <a:t>IP geográfica inusual/mala reputación</a:t>
            </a:r>
          </a:p>
          <a:p>
            <a:pPr marL="0" indent="0">
              <a:buNone/>
            </a:pPr>
            <a:r>
              <a:rPr lang="es-ES" b="1" dirty="0">
                <a:latin typeface="Bahnschrift" panose="020B0502040204020203" pitchFamily="34" charset="0"/>
              </a:rPr>
              <a:t>Errores de Integridad:</a:t>
            </a:r>
            <a:r>
              <a:rPr lang="es-ES" dirty="0">
                <a:latin typeface="Bahnschrift" panose="020B0502040204020203" pitchFamily="34" charset="0"/>
              </a:rPr>
              <a:t> Logs de la aplicación reportando fallos en la verificación de firmas digitales o hashes de archivos que no coinciden.</a:t>
            </a:r>
            <a:r>
              <a:rPr lang="es-ES" b="1" dirty="0">
                <a:latin typeface="Bahnschrift" panose="020B0502040204020203" pitchFamily="34" charset="0"/>
              </a:rPr>
              <a:t> </a:t>
            </a:r>
          </a:p>
          <a:p>
            <a:pPr marL="0" indent="0">
              <a:buNone/>
            </a:pPr>
            <a:r>
              <a:rPr lang="es-ES" b="1" dirty="0">
                <a:latin typeface="Bahnschrift" panose="020B0502040204020203" pitchFamily="34" charset="0"/>
              </a:rPr>
              <a:t>Certificados No Reconocidos:</a:t>
            </a:r>
            <a:r>
              <a:rPr lang="es-ES" dirty="0">
                <a:latin typeface="Bahnschrift" panose="020B0502040204020203" pitchFamily="34" charset="0"/>
              </a:rPr>
              <a:t> Aparición de certificados "</a:t>
            </a:r>
            <a:r>
              <a:rPr lang="es-ES" dirty="0" err="1">
                <a:latin typeface="Bahnschrift" panose="020B0502040204020203" pitchFamily="34" charset="0"/>
              </a:rPr>
              <a:t>autofirmados</a:t>
            </a:r>
            <a:r>
              <a:rPr lang="es-ES" dirty="0">
                <a:latin typeface="Bahnschrift" panose="020B0502040204020203" pitchFamily="34" charset="0"/>
              </a:rPr>
              <a:t>" o emitidos por Autoridades de Certificación (CA) que no están en la lista blanca de la empresa.</a:t>
            </a:r>
          </a:p>
          <a:p>
            <a:pPr marL="0" indent="0">
              <a:buNone/>
            </a:pPr>
            <a:endParaRPr lang="es-ES" sz="3700" dirty="0">
              <a:latin typeface="Bahnschrift" panose="020B0502040204020203" pitchFamily="34" charset="0"/>
            </a:endParaRPr>
          </a:p>
        </p:txBody>
      </p:sp>
      <p:pic>
        <p:nvPicPr>
          <p:cNvPr id="4" name="Picture 3" descr="Google Cloud SecOps | Hunt &amp; Hackett">
            <a:extLst>
              <a:ext uri="{FF2B5EF4-FFF2-40B4-BE49-F238E27FC236}">
                <a16:creationId xmlns:a16="http://schemas.microsoft.com/office/drawing/2014/main" id="{7092C71D-2C42-0795-6FE2-8E06FA7616BF}"/>
              </a:ext>
            </a:extLst>
          </p:cNvPr>
          <p:cNvPicPr>
            <a:picLocks noChangeAspect="1"/>
          </p:cNvPicPr>
          <p:nvPr/>
        </p:nvPicPr>
        <p:blipFill>
          <a:blip r:embed="rId2"/>
          <a:stretch>
            <a:fillRect/>
          </a:stretch>
        </p:blipFill>
        <p:spPr>
          <a:xfrm>
            <a:off x="10820400" y="5658796"/>
            <a:ext cx="1102291" cy="910747"/>
          </a:xfrm>
          <a:prstGeom prst="rect">
            <a:avLst/>
          </a:prstGeom>
        </p:spPr>
      </p:pic>
      <p:pic>
        <p:nvPicPr>
          <p:cNvPr id="5" name="Graphic 4" descr="SOCRadar | Login">
            <a:extLst>
              <a:ext uri="{FF2B5EF4-FFF2-40B4-BE49-F238E27FC236}">
                <a16:creationId xmlns:a16="http://schemas.microsoft.com/office/drawing/2014/main" id="{5FF050AC-EE6B-D00E-7658-3F5EA7F882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71600" y="5867400"/>
            <a:ext cx="1645024" cy="493540"/>
          </a:xfrm>
          <a:prstGeom prst="rect">
            <a:avLst/>
          </a:prstGeom>
        </p:spPr>
      </p:pic>
      <p:sp>
        <p:nvSpPr>
          <p:cNvPr id="6" name="TextBox 5">
            <a:extLst>
              <a:ext uri="{FF2B5EF4-FFF2-40B4-BE49-F238E27FC236}">
                <a16:creationId xmlns:a16="http://schemas.microsoft.com/office/drawing/2014/main" id="{DCC08DA8-45ED-01F2-EA89-58070726E409}"/>
              </a:ext>
            </a:extLst>
          </p:cNvPr>
          <p:cNvSpPr txBox="1"/>
          <p:nvPr/>
        </p:nvSpPr>
        <p:spPr>
          <a:xfrm>
            <a:off x="11745468" y="6491967"/>
            <a:ext cx="453970" cy="369332"/>
          </a:xfrm>
          <a:prstGeom prst="rect">
            <a:avLst/>
          </a:prstGeom>
          <a:noFill/>
        </p:spPr>
        <p:txBody>
          <a:bodyPr wrap="none" rtlCol="0">
            <a:spAutoFit/>
          </a:bodyPr>
          <a:lstStyle/>
          <a:p>
            <a:pPr>
              <a:spcAft>
                <a:spcPts val="600"/>
              </a:spcAft>
            </a:pPr>
            <a:r>
              <a:rPr lang="es-MX" dirty="0"/>
              <a:t>12</a:t>
            </a:r>
            <a:endParaRPr lang="en-US" dirty="0"/>
          </a:p>
        </p:txBody>
      </p:sp>
    </p:spTree>
    <p:extLst>
      <p:ext uri="{BB962C8B-B14F-4D97-AF65-F5344CB8AC3E}">
        <p14:creationId xmlns:p14="http://schemas.microsoft.com/office/powerpoint/2010/main" val="746976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BC8768-49D2-F646-BFE1-4FBFF949EA6B}"/>
              </a:ext>
            </a:extLst>
          </p:cNvPr>
          <p:cNvSpPr>
            <a:spLocks noGrp="1"/>
          </p:cNvSpPr>
          <p:nvPr>
            <p:ph type="title"/>
          </p:nvPr>
        </p:nvSpPr>
        <p:spPr/>
        <p:txBody>
          <a:bodyPr/>
          <a:lstStyle/>
          <a:p>
            <a:r>
              <a:rPr lang="es-MX" b="1" dirty="0">
                <a:latin typeface="Bahnschrift" panose="020B0502040204020203" pitchFamily="34" charset="0"/>
              </a:rPr>
              <a:t>Indicadores de Compromiso (</a:t>
            </a:r>
            <a:r>
              <a:rPr lang="es-MX" b="1" dirty="0" err="1">
                <a:latin typeface="Bahnschrift" panose="020B0502040204020203" pitchFamily="34" charset="0"/>
              </a:rPr>
              <a:t>IoC</a:t>
            </a:r>
            <a:r>
              <a:rPr lang="es-MX" b="1" dirty="0">
                <a:latin typeface="Bahnschrift" panose="020B0502040204020203" pitchFamily="34" charset="0"/>
              </a:rPr>
              <a:t>)</a:t>
            </a:r>
            <a:br>
              <a:rPr lang="es-MX" b="1" dirty="0">
                <a:latin typeface="Bahnschrift" panose="020B0502040204020203" pitchFamily="34" charset="0"/>
              </a:rPr>
            </a:br>
            <a:endParaRPr lang="es-MX" dirty="0">
              <a:latin typeface="Bahnschrift" panose="020B0502040204020203" pitchFamily="34" charset="0"/>
            </a:endParaRPr>
          </a:p>
        </p:txBody>
      </p:sp>
      <p:sp>
        <p:nvSpPr>
          <p:cNvPr id="3" name="Marcador de contenido 2">
            <a:extLst>
              <a:ext uri="{FF2B5EF4-FFF2-40B4-BE49-F238E27FC236}">
                <a16:creationId xmlns:a16="http://schemas.microsoft.com/office/drawing/2014/main" id="{0C756945-A5CC-EC9D-0D6D-DDA7CFA96CE2}"/>
              </a:ext>
            </a:extLst>
          </p:cNvPr>
          <p:cNvSpPr>
            <a:spLocks noGrp="1"/>
          </p:cNvSpPr>
          <p:nvPr>
            <p:ph idx="1"/>
          </p:nvPr>
        </p:nvSpPr>
        <p:spPr>
          <a:xfrm>
            <a:off x="1371600" y="2256028"/>
            <a:ext cx="9601200" cy="2345944"/>
          </a:xfrm>
        </p:spPr>
        <p:txBody>
          <a:bodyPr>
            <a:normAutofit/>
          </a:bodyPr>
          <a:lstStyle/>
          <a:p>
            <a:r>
              <a:rPr lang="es-ES" b="1" dirty="0">
                <a:latin typeface="Bahnschrift" panose="020B0502040204020203" pitchFamily="34" charset="0"/>
              </a:rPr>
              <a:t>3. </a:t>
            </a:r>
            <a:r>
              <a:rPr lang="es-ES" b="1" dirty="0" err="1">
                <a:latin typeface="Bahnschrift" panose="020B0502040204020203" pitchFamily="34" charset="0"/>
              </a:rPr>
              <a:t>IoC</a:t>
            </a:r>
            <a:r>
              <a:rPr lang="es-ES" b="1" dirty="0">
                <a:latin typeface="Bahnschrift" panose="020B0502040204020203" pitchFamily="34" charset="0"/>
              </a:rPr>
              <a:t> en el Ciclo de Desarrollo (</a:t>
            </a:r>
            <a:r>
              <a:rPr lang="es-ES" b="1" dirty="0" err="1">
                <a:latin typeface="Bahnschrift" panose="020B0502040204020203" pitchFamily="34" charset="0"/>
              </a:rPr>
              <a:t>DevSecOps</a:t>
            </a:r>
            <a:r>
              <a:rPr lang="es-ES" b="1" dirty="0">
                <a:latin typeface="Bahnschrift" panose="020B0502040204020203" pitchFamily="34" charset="0"/>
              </a:rPr>
              <a:t>)</a:t>
            </a:r>
          </a:p>
          <a:p>
            <a:pPr marL="0" indent="0">
              <a:buNone/>
            </a:pPr>
            <a:r>
              <a:rPr lang="es-ES" b="1" dirty="0">
                <a:latin typeface="Bahnschrift" panose="020B0502040204020203" pitchFamily="34" charset="0"/>
              </a:rPr>
              <a:t>Alertas de </a:t>
            </a:r>
            <a:r>
              <a:rPr lang="es-ES" b="1" dirty="0" err="1">
                <a:latin typeface="Bahnschrift" panose="020B0502040204020203" pitchFamily="34" charset="0"/>
              </a:rPr>
              <a:t>Secret</a:t>
            </a:r>
            <a:r>
              <a:rPr lang="es-ES" b="1" dirty="0">
                <a:latin typeface="Bahnschrift" panose="020B0502040204020203" pitchFamily="34" charset="0"/>
              </a:rPr>
              <a:t> </a:t>
            </a:r>
            <a:r>
              <a:rPr lang="es-ES" b="1" dirty="0" err="1">
                <a:latin typeface="Bahnschrift" panose="020B0502040204020203" pitchFamily="34" charset="0"/>
              </a:rPr>
              <a:t>Scanning</a:t>
            </a:r>
            <a:r>
              <a:rPr lang="es-ES" b="1" dirty="0">
                <a:latin typeface="Bahnschrift" panose="020B0502040204020203" pitchFamily="34" charset="0"/>
              </a:rPr>
              <a:t>:</a:t>
            </a:r>
            <a:r>
              <a:rPr lang="es-ES" dirty="0">
                <a:latin typeface="Bahnschrift" panose="020B0502040204020203" pitchFamily="34" charset="0"/>
              </a:rPr>
              <a:t> Notificaciones de herramientas como </a:t>
            </a:r>
            <a:r>
              <a:rPr lang="es-ES" dirty="0" err="1">
                <a:highlight>
                  <a:srgbClr val="FFFF00"/>
                </a:highlight>
                <a:latin typeface="Bahnschrift" panose="020B0502040204020203" pitchFamily="34" charset="0"/>
              </a:rPr>
              <a:t>TruffleHog</a:t>
            </a:r>
            <a:r>
              <a:rPr lang="es-ES" dirty="0">
                <a:highlight>
                  <a:srgbClr val="FFFF00"/>
                </a:highlight>
                <a:latin typeface="Bahnschrift" panose="020B0502040204020203" pitchFamily="34" charset="0"/>
              </a:rPr>
              <a:t> o </a:t>
            </a:r>
            <a:r>
              <a:rPr lang="es-ES" dirty="0" err="1">
                <a:highlight>
                  <a:srgbClr val="FFFF00"/>
                </a:highlight>
                <a:latin typeface="Bahnschrift" panose="020B0502040204020203" pitchFamily="34" charset="0"/>
              </a:rPr>
              <a:t>SOCRadar</a:t>
            </a:r>
            <a:r>
              <a:rPr lang="es-ES" dirty="0">
                <a:highlight>
                  <a:srgbClr val="FFFF00"/>
                </a:highlight>
                <a:latin typeface="Bahnschrift" panose="020B0502040204020203" pitchFamily="34" charset="0"/>
              </a:rPr>
              <a:t> </a:t>
            </a:r>
            <a:r>
              <a:rPr lang="es-ES" dirty="0">
                <a:latin typeface="Bahnschrift" panose="020B0502040204020203" pitchFamily="34" charset="0"/>
              </a:rPr>
              <a:t>indicando que una </a:t>
            </a:r>
            <a:r>
              <a:rPr lang="es-ES" b="1" dirty="0">
                <a:latin typeface="Bahnschrift" panose="020B0502040204020203" pitchFamily="34" charset="0"/>
              </a:rPr>
              <a:t>llave privada</a:t>
            </a:r>
            <a:r>
              <a:rPr lang="es-ES" dirty="0">
                <a:latin typeface="Bahnschrift" panose="020B0502040204020203" pitchFamily="34" charset="0"/>
              </a:rPr>
              <a:t> o un token fue detectado en un repositorio público haciendo uso de palabras clave.</a:t>
            </a:r>
          </a:p>
          <a:p>
            <a:pPr marL="0" indent="0">
              <a:buNone/>
            </a:pPr>
            <a:r>
              <a:rPr lang="es-ES" b="1" dirty="0">
                <a:latin typeface="Bahnschrift" panose="020B0502040204020203" pitchFamily="34" charset="0"/>
              </a:rPr>
              <a:t>Detección de "</a:t>
            </a:r>
            <a:r>
              <a:rPr lang="es-ES" b="1" dirty="0" err="1">
                <a:latin typeface="Bahnschrift" panose="020B0502040204020203" pitchFamily="34" charset="0"/>
              </a:rPr>
              <a:t>Hardcoded</a:t>
            </a:r>
            <a:r>
              <a:rPr lang="es-ES" b="1" dirty="0">
                <a:latin typeface="Bahnschrift" panose="020B0502040204020203" pitchFamily="34" charset="0"/>
              </a:rPr>
              <a:t> </a:t>
            </a:r>
            <a:r>
              <a:rPr lang="es-ES" b="1" dirty="0" err="1">
                <a:latin typeface="Bahnschrift" panose="020B0502040204020203" pitchFamily="34" charset="0"/>
              </a:rPr>
              <a:t>Secrets</a:t>
            </a:r>
            <a:r>
              <a:rPr lang="es-ES" b="1" dirty="0">
                <a:latin typeface="Bahnschrift" panose="020B0502040204020203" pitchFamily="34" charset="0"/>
              </a:rPr>
              <a:t>":</a:t>
            </a:r>
            <a:r>
              <a:rPr lang="es-ES" dirty="0">
                <a:latin typeface="Bahnschrift" panose="020B0502040204020203" pitchFamily="34" charset="0"/>
              </a:rPr>
              <a:t> Resultados de escaneos estáticos (SAST) que encuentran llaves de cifrado escritas directamente en el código fuente.</a:t>
            </a:r>
          </a:p>
          <a:p>
            <a:endParaRPr lang="es-MX" dirty="0"/>
          </a:p>
        </p:txBody>
      </p:sp>
      <p:pic>
        <p:nvPicPr>
          <p:cNvPr id="5" name="Graphic 4" descr="SOCRadar | Login">
            <a:extLst>
              <a:ext uri="{FF2B5EF4-FFF2-40B4-BE49-F238E27FC236}">
                <a16:creationId xmlns:a16="http://schemas.microsoft.com/office/drawing/2014/main" id="{5FF050AC-EE6B-D00E-7658-3F5EA7F882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9688" y="5925430"/>
            <a:ext cx="1645024" cy="493540"/>
          </a:xfrm>
          <a:prstGeom prst="rect">
            <a:avLst/>
          </a:prstGeom>
        </p:spPr>
      </p:pic>
      <p:sp>
        <p:nvSpPr>
          <p:cNvPr id="6" name="TextBox 5">
            <a:extLst>
              <a:ext uri="{FF2B5EF4-FFF2-40B4-BE49-F238E27FC236}">
                <a16:creationId xmlns:a16="http://schemas.microsoft.com/office/drawing/2014/main" id="{E8670D2C-E4A2-DB9B-8438-8553760A54B9}"/>
              </a:ext>
            </a:extLst>
          </p:cNvPr>
          <p:cNvSpPr txBox="1"/>
          <p:nvPr/>
        </p:nvSpPr>
        <p:spPr>
          <a:xfrm>
            <a:off x="11745468" y="6491967"/>
            <a:ext cx="451919" cy="369332"/>
          </a:xfrm>
          <a:prstGeom prst="rect">
            <a:avLst/>
          </a:prstGeom>
          <a:noFill/>
        </p:spPr>
        <p:txBody>
          <a:bodyPr wrap="none" rtlCol="0">
            <a:spAutoFit/>
          </a:bodyPr>
          <a:lstStyle/>
          <a:p>
            <a:pPr>
              <a:spcAft>
                <a:spcPts val="600"/>
              </a:spcAft>
            </a:pPr>
            <a:r>
              <a:rPr lang="es-MX" dirty="0"/>
              <a:t>13</a:t>
            </a:r>
            <a:endParaRPr lang="en-US" dirty="0"/>
          </a:p>
        </p:txBody>
      </p:sp>
    </p:spTree>
    <p:extLst>
      <p:ext uri="{BB962C8B-B14F-4D97-AF65-F5344CB8AC3E}">
        <p14:creationId xmlns:p14="http://schemas.microsoft.com/office/powerpoint/2010/main" val="950628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E5DEC-4AF3-44AA-3B98-17ADC23FBF0B}"/>
              </a:ext>
            </a:extLst>
          </p:cNvPr>
          <p:cNvSpPr>
            <a:spLocks noGrp="1"/>
          </p:cNvSpPr>
          <p:nvPr>
            <p:ph type="title"/>
          </p:nvPr>
        </p:nvSpPr>
        <p:spPr>
          <a:xfrm>
            <a:off x="4954181" y="685800"/>
            <a:ext cx="6562905" cy="1485900"/>
          </a:xfrm>
        </p:spPr>
        <p:txBody>
          <a:bodyPr>
            <a:normAutofit/>
          </a:bodyPr>
          <a:lstStyle/>
          <a:p>
            <a:r>
              <a:rPr lang="es-MX"/>
              <a:t>PRACTICA DE WIRESHARK </a:t>
            </a:r>
            <a:endParaRPr lang="en-US" dirty="0"/>
          </a:p>
        </p:txBody>
      </p:sp>
      <p:sp>
        <p:nvSpPr>
          <p:cNvPr id="9" name="Rectangle 8">
            <a:extLst>
              <a:ext uri="{FF2B5EF4-FFF2-40B4-BE49-F238E27FC236}">
                <a16:creationId xmlns:a16="http://schemas.microsoft.com/office/drawing/2014/main" id="{6B205BC3-0B06-4EA6-9066-1A0BEC22C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 name="Picture 2" descr="Wireshark">
            <a:extLst>
              <a:ext uri="{FF2B5EF4-FFF2-40B4-BE49-F238E27FC236}">
                <a16:creationId xmlns:a16="http://schemas.microsoft.com/office/drawing/2014/main" id="{2D8C367D-7CDC-D4F5-4F89-3F4DC2C35F9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23562" y="1450294"/>
            <a:ext cx="3613752" cy="363737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B31001D-0D1A-F325-0817-5E5C9C1020AD}"/>
              </a:ext>
            </a:extLst>
          </p:cNvPr>
          <p:cNvSpPr>
            <a:spLocks noGrp="1"/>
          </p:cNvSpPr>
          <p:nvPr>
            <p:ph idx="1"/>
          </p:nvPr>
        </p:nvSpPr>
        <p:spPr>
          <a:xfrm>
            <a:off x="4954181" y="2286000"/>
            <a:ext cx="6562905" cy="3581400"/>
          </a:xfrm>
        </p:spPr>
        <p:txBody>
          <a:bodyPr>
            <a:normAutofit/>
          </a:bodyPr>
          <a:lstStyle/>
          <a:p>
            <a:r>
              <a:rPr lang="es-MX" dirty="0"/>
              <a:t>Necesitamos el apoyo de un(a) compañero(a) para ingresar a autoservicios</a:t>
            </a:r>
          </a:p>
          <a:p>
            <a:endParaRPr lang="en-US" dirty="0"/>
          </a:p>
          <a:p>
            <a:r>
              <a:rPr lang="en-US" dirty="0" err="1"/>
              <a:t>Conectarse</a:t>
            </a:r>
            <a:r>
              <a:rPr lang="en-US" dirty="0"/>
              <a:t> a la zona de red “</a:t>
            </a:r>
            <a:r>
              <a:rPr lang="en-US" dirty="0" err="1"/>
              <a:t>IPhone</a:t>
            </a:r>
            <a:r>
              <a:rPr lang="en-US" dirty="0"/>
              <a:t> de George” </a:t>
            </a:r>
          </a:p>
          <a:p>
            <a:endParaRPr lang="es-MX" dirty="0"/>
          </a:p>
          <a:p>
            <a:r>
              <a:rPr lang="es-MX" dirty="0"/>
              <a:t>Acceder a autoservicios</a:t>
            </a:r>
          </a:p>
          <a:p>
            <a:pPr marL="0" indent="0">
              <a:buNone/>
            </a:pPr>
            <a:endParaRPr lang="es-MX" dirty="0"/>
          </a:p>
        </p:txBody>
      </p:sp>
      <p:sp>
        <p:nvSpPr>
          <p:cNvPr id="5" name="TextBox 4">
            <a:extLst>
              <a:ext uri="{FF2B5EF4-FFF2-40B4-BE49-F238E27FC236}">
                <a16:creationId xmlns:a16="http://schemas.microsoft.com/office/drawing/2014/main" id="{17815E38-CA27-4748-3460-4FCCE7F8F1EF}"/>
              </a:ext>
            </a:extLst>
          </p:cNvPr>
          <p:cNvSpPr txBox="1"/>
          <p:nvPr/>
        </p:nvSpPr>
        <p:spPr>
          <a:xfrm>
            <a:off x="11745468" y="6491967"/>
            <a:ext cx="446532" cy="369332"/>
          </a:xfrm>
          <a:prstGeom prst="rect">
            <a:avLst/>
          </a:prstGeom>
          <a:noFill/>
        </p:spPr>
        <p:txBody>
          <a:bodyPr wrap="none" rtlCol="0">
            <a:spAutoFit/>
          </a:bodyPr>
          <a:lstStyle/>
          <a:p>
            <a:pPr>
              <a:spcAft>
                <a:spcPts val="600"/>
              </a:spcAft>
            </a:pPr>
            <a:r>
              <a:rPr lang="es-MX" dirty="0"/>
              <a:t>14</a:t>
            </a:r>
            <a:endParaRPr lang="en-US" dirty="0"/>
          </a:p>
        </p:txBody>
      </p:sp>
    </p:spTree>
    <p:extLst>
      <p:ext uri="{BB962C8B-B14F-4D97-AF65-F5344CB8AC3E}">
        <p14:creationId xmlns:p14="http://schemas.microsoft.com/office/powerpoint/2010/main" val="1113144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2C9B1-ECEF-2C1D-3BB1-D7EA7554920D}"/>
              </a:ext>
            </a:extLst>
          </p:cNvPr>
          <p:cNvSpPr>
            <a:spLocks noGrp="1"/>
          </p:cNvSpPr>
          <p:nvPr>
            <p:ph type="title"/>
          </p:nvPr>
        </p:nvSpPr>
        <p:spPr>
          <a:xfrm>
            <a:off x="1097280" y="182880"/>
            <a:ext cx="9601200" cy="1485900"/>
          </a:xfrm>
        </p:spPr>
        <p:txBody>
          <a:bodyPr/>
          <a:lstStyle/>
          <a:p>
            <a:r>
              <a:rPr lang="es-MX" b="1" dirty="0">
                <a:latin typeface="Bahnschrift" panose="020B0502040204020203" pitchFamily="34" charset="0"/>
              </a:rPr>
              <a:t>Responsabilidad compartida</a:t>
            </a:r>
            <a:br>
              <a:rPr lang="es-MX" dirty="0">
                <a:latin typeface="Bahnschrift" panose="020B0502040204020203" pitchFamily="34" charset="0"/>
              </a:rPr>
            </a:br>
            <a:endParaRPr lang="es-MX" dirty="0">
              <a:latin typeface="Bahnschrift" panose="020B0502040204020203" pitchFamily="34" charset="0"/>
            </a:endParaRPr>
          </a:p>
        </p:txBody>
      </p:sp>
      <p:sp>
        <p:nvSpPr>
          <p:cNvPr id="3" name="Marcador de contenido 2">
            <a:extLst>
              <a:ext uri="{FF2B5EF4-FFF2-40B4-BE49-F238E27FC236}">
                <a16:creationId xmlns:a16="http://schemas.microsoft.com/office/drawing/2014/main" id="{E7D9EAE6-2267-4716-9967-E843E269A7E4}"/>
              </a:ext>
            </a:extLst>
          </p:cNvPr>
          <p:cNvSpPr>
            <a:spLocks noGrp="1"/>
          </p:cNvSpPr>
          <p:nvPr>
            <p:ph idx="1"/>
          </p:nvPr>
        </p:nvSpPr>
        <p:spPr>
          <a:xfrm>
            <a:off x="969264" y="1003097"/>
            <a:ext cx="10963656" cy="1485900"/>
          </a:xfrm>
        </p:spPr>
        <p:txBody>
          <a:bodyPr>
            <a:normAutofit/>
          </a:bodyPr>
          <a:lstStyle/>
          <a:p>
            <a:pPr algn="just"/>
            <a:r>
              <a:rPr lang="es-ES" sz="1400" b="1" dirty="0">
                <a:latin typeface="Bahnschrift" panose="020B0502040204020203" pitchFamily="34" charset="0"/>
              </a:rPr>
              <a:t>1. El Desarrollador </a:t>
            </a:r>
          </a:p>
          <a:p>
            <a:pPr marL="0" indent="0" algn="just">
              <a:buNone/>
            </a:pPr>
            <a:r>
              <a:rPr lang="es-ES" sz="1400" b="1" dirty="0">
                <a:latin typeface="Bahnschrift" panose="020B0502040204020203" pitchFamily="34" charset="0"/>
              </a:rPr>
              <a:t>Misión:</a:t>
            </a:r>
            <a:r>
              <a:rPr lang="es-ES" sz="1400" dirty="0">
                <a:latin typeface="Bahnschrift" panose="020B0502040204020203" pitchFamily="34" charset="0"/>
              </a:rPr>
              <a:t> Implementar la criptografía "por diseño".</a:t>
            </a:r>
          </a:p>
          <a:p>
            <a:pPr marL="0" indent="0" algn="just">
              <a:buNone/>
            </a:pPr>
            <a:r>
              <a:rPr lang="es-ES" sz="1400" b="1" dirty="0">
                <a:latin typeface="Bahnschrift" panose="020B0502040204020203" pitchFamily="34" charset="0"/>
              </a:rPr>
              <a:t>Fallo Común:</a:t>
            </a:r>
            <a:r>
              <a:rPr lang="es-ES" sz="1400" dirty="0">
                <a:latin typeface="Bahnschrift" panose="020B0502040204020203" pitchFamily="34" charset="0"/>
              </a:rPr>
              <a:t> Intentar inventar un algoritmo propio o usar librerías obsoletas por facilidad de programación.</a:t>
            </a:r>
          </a:p>
          <a:p>
            <a:pPr marL="0" indent="0" algn="just">
              <a:buNone/>
            </a:pPr>
            <a:r>
              <a:rPr lang="es-ES" sz="1400" b="1" dirty="0">
                <a:latin typeface="Bahnschrift" panose="020B0502040204020203" pitchFamily="34" charset="0"/>
              </a:rPr>
              <a:t>Buenas Prácticas:</a:t>
            </a:r>
            <a:r>
              <a:rPr lang="es-ES" sz="1400" dirty="0">
                <a:latin typeface="Bahnschrift" panose="020B0502040204020203" pitchFamily="34" charset="0"/>
              </a:rPr>
              <a:t> Usar estándares como </a:t>
            </a:r>
            <a:r>
              <a:rPr lang="es-ES" sz="1400" b="1" dirty="0">
                <a:latin typeface="Bahnschrift" panose="020B0502040204020203" pitchFamily="34" charset="0"/>
              </a:rPr>
              <a:t>Argon2id</a:t>
            </a:r>
            <a:r>
              <a:rPr lang="es-ES" sz="1400" dirty="0">
                <a:latin typeface="Bahnschrift" panose="020B0502040204020203" pitchFamily="34" charset="0"/>
              </a:rPr>
              <a:t> y separar la lógica del negocio de los secretos criptográficos.</a:t>
            </a:r>
          </a:p>
        </p:txBody>
      </p:sp>
      <p:sp>
        <p:nvSpPr>
          <p:cNvPr id="4" name="Marcador de contenido 2">
            <a:extLst>
              <a:ext uri="{FF2B5EF4-FFF2-40B4-BE49-F238E27FC236}">
                <a16:creationId xmlns:a16="http://schemas.microsoft.com/office/drawing/2014/main" id="{5044AA00-FAB7-B66B-685B-CDC3A609E5EC}"/>
              </a:ext>
            </a:extLst>
          </p:cNvPr>
          <p:cNvSpPr txBox="1">
            <a:spLocks/>
          </p:cNvSpPr>
          <p:nvPr/>
        </p:nvSpPr>
        <p:spPr>
          <a:xfrm>
            <a:off x="969264" y="3614183"/>
            <a:ext cx="10963656" cy="169049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a:r>
              <a:rPr lang="es-ES" sz="1400" b="1" dirty="0">
                <a:latin typeface="Bahnschrift" panose="020B0502040204020203" pitchFamily="34" charset="0"/>
              </a:rPr>
              <a:t>2. El Administrador de Sistemas/DevOps </a:t>
            </a:r>
          </a:p>
          <a:p>
            <a:pPr marL="0" indent="0" algn="just">
              <a:buFont typeface="Franklin Gothic Book" panose="020B0503020102020204" pitchFamily="34" charset="0"/>
              <a:buNone/>
            </a:pPr>
            <a:r>
              <a:rPr lang="es-ES" sz="1400" b="1" dirty="0">
                <a:latin typeface="Bahnschrift" panose="020B0502040204020203" pitchFamily="34" charset="0"/>
              </a:rPr>
              <a:t>Misión:</a:t>
            </a:r>
            <a:r>
              <a:rPr lang="es-ES" sz="1400" dirty="0">
                <a:latin typeface="Bahnschrift" panose="020B0502040204020203" pitchFamily="34" charset="0"/>
              </a:rPr>
              <a:t> Asegurar que los "túneles" por donde viaja la </a:t>
            </a:r>
            <a:r>
              <a:rPr lang="es-ES" sz="1400" dirty="0" err="1">
                <a:latin typeface="Bahnschrift" panose="020B0502040204020203" pitchFamily="34" charset="0"/>
              </a:rPr>
              <a:t>info</a:t>
            </a:r>
            <a:r>
              <a:rPr lang="es-ES" sz="1400" dirty="0">
                <a:latin typeface="Bahnschrift" panose="020B0502040204020203" pitchFamily="34" charset="0"/>
              </a:rPr>
              <a:t> sean seguros.</a:t>
            </a:r>
          </a:p>
          <a:p>
            <a:pPr marL="0" indent="0" algn="just">
              <a:buFont typeface="Franklin Gothic Book" panose="020B0503020102020204" pitchFamily="34" charset="0"/>
              <a:buNone/>
            </a:pPr>
            <a:r>
              <a:rPr lang="es-ES" sz="1400" b="1" dirty="0">
                <a:latin typeface="Bahnschrift" panose="020B0502040204020203" pitchFamily="34" charset="0"/>
              </a:rPr>
              <a:t>Fallo Común:</a:t>
            </a:r>
            <a:r>
              <a:rPr lang="es-ES" sz="1400" dirty="0">
                <a:latin typeface="Bahnschrift" panose="020B0502040204020203" pitchFamily="34" charset="0"/>
              </a:rPr>
              <a:t> Dejar configuraciones por defecto en servidores </a:t>
            </a:r>
            <a:r>
              <a:rPr lang="es-ES" sz="1400" dirty="0" err="1">
                <a:latin typeface="Bahnschrift" panose="020B0502040204020203" pitchFamily="34" charset="0"/>
              </a:rPr>
              <a:t>Nginx</a:t>
            </a:r>
            <a:r>
              <a:rPr lang="es-ES" sz="1400" dirty="0">
                <a:latin typeface="Bahnschrift" panose="020B0502040204020203" pitchFamily="34" charset="0"/>
              </a:rPr>
              <a:t>/Apache que aceptan conexiones inseguras para no "romper" la compatibilidad con clientes viejos.</a:t>
            </a:r>
          </a:p>
          <a:p>
            <a:pPr marL="0" indent="0" algn="just">
              <a:buFont typeface="Franklin Gothic Book" panose="020B0503020102020204" pitchFamily="34" charset="0"/>
              <a:buNone/>
            </a:pPr>
            <a:r>
              <a:rPr lang="es-ES" sz="1400" b="1" dirty="0">
                <a:latin typeface="Bahnschrift" panose="020B0502040204020203" pitchFamily="34" charset="0"/>
              </a:rPr>
              <a:t>Buenas Prácticas:</a:t>
            </a:r>
            <a:r>
              <a:rPr lang="es-ES" sz="1400" dirty="0">
                <a:latin typeface="Bahnschrift" panose="020B0502040204020203" pitchFamily="34" charset="0"/>
              </a:rPr>
              <a:t> Implementar </a:t>
            </a:r>
            <a:r>
              <a:rPr lang="es-ES" sz="1400" b="1" dirty="0">
                <a:latin typeface="Bahnschrift" panose="020B0502040204020203" pitchFamily="34" charset="0"/>
              </a:rPr>
              <a:t>HSTS</a:t>
            </a:r>
            <a:r>
              <a:rPr lang="es-ES" sz="1400" dirty="0">
                <a:latin typeface="Bahnschrift" panose="020B0502040204020203" pitchFamily="34" charset="0"/>
              </a:rPr>
              <a:t> y automatizar la rotación de certificados.</a:t>
            </a:r>
            <a:endParaRPr lang="es-ES" sz="1400" dirty="0"/>
          </a:p>
        </p:txBody>
      </p:sp>
      <p:pic>
        <p:nvPicPr>
          <p:cNvPr id="7172" name="Picture 4" descr="Cómo Convertirte en Desarrollador Web Desde Cero y Encontrar un Trabajo">
            <a:extLst>
              <a:ext uri="{FF2B5EF4-FFF2-40B4-BE49-F238E27FC236}">
                <a16:creationId xmlns:a16="http://schemas.microsoft.com/office/drawing/2014/main" id="{1B661101-2697-6CEF-0A51-681A8852D8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7054" y="2433253"/>
            <a:ext cx="2780452" cy="1390226"/>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Icono de Administrador Generic Rounded Shapes | Freepik">
            <a:extLst>
              <a:ext uri="{FF2B5EF4-FFF2-40B4-BE49-F238E27FC236}">
                <a16:creationId xmlns:a16="http://schemas.microsoft.com/office/drawing/2014/main" id="{10D85F03-3967-5746-B3ED-768AB7A08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754" y="4800147"/>
            <a:ext cx="1894752" cy="189475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4F714AE-EC72-94F0-1221-BE004306AF6E}"/>
              </a:ext>
            </a:extLst>
          </p:cNvPr>
          <p:cNvSpPr txBox="1"/>
          <p:nvPr/>
        </p:nvSpPr>
        <p:spPr>
          <a:xfrm>
            <a:off x="11745468" y="6491967"/>
            <a:ext cx="450701" cy="369332"/>
          </a:xfrm>
          <a:prstGeom prst="rect">
            <a:avLst/>
          </a:prstGeom>
          <a:noFill/>
        </p:spPr>
        <p:txBody>
          <a:bodyPr wrap="none" rtlCol="0">
            <a:spAutoFit/>
          </a:bodyPr>
          <a:lstStyle/>
          <a:p>
            <a:pPr>
              <a:spcAft>
                <a:spcPts val="600"/>
              </a:spcAft>
            </a:pPr>
            <a:r>
              <a:rPr lang="es-MX" dirty="0"/>
              <a:t>15</a:t>
            </a:r>
            <a:endParaRPr lang="en-US" dirty="0"/>
          </a:p>
        </p:txBody>
      </p:sp>
    </p:spTree>
    <p:extLst>
      <p:ext uri="{BB962C8B-B14F-4D97-AF65-F5344CB8AC3E}">
        <p14:creationId xmlns:p14="http://schemas.microsoft.com/office/powerpoint/2010/main" val="382005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F65EC-1856-C717-CC8B-021513C7B4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6644A35-2232-A0B4-70C5-4E9FE9E7A527}"/>
              </a:ext>
            </a:extLst>
          </p:cNvPr>
          <p:cNvSpPr>
            <a:spLocks noGrp="1"/>
          </p:cNvSpPr>
          <p:nvPr>
            <p:ph type="title"/>
          </p:nvPr>
        </p:nvSpPr>
        <p:spPr>
          <a:xfrm>
            <a:off x="1097280" y="182880"/>
            <a:ext cx="9601200" cy="1485900"/>
          </a:xfrm>
        </p:spPr>
        <p:txBody>
          <a:bodyPr/>
          <a:lstStyle/>
          <a:p>
            <a:r>
              <a:rPr lang="es-MX" b="1" dirty="0">
                <a:latin typeface="Bahnschrift" panose="020B0502040204020203" pitchFamily="34" charset="0"/>
              </a:rPr>
              <a:t>Responsabilidad compartida</a:t>
            </a:r>
            <a:br>
              <a:rPr lang="es-MX" dirty="0">
                <a:latin typeface="Bahnschrift" panose="020B0502040204020203" pitchFamily="34" charset="0"/>
              </a:rPr>
            </a:br>
            <a:endParaRPr lang="es-MX" dirty="0">
              <a:latin typeface="Bahnschrift" panose="020B0502040204020203" pitchFamily="34" charset="0"/>
            </a:endParaRPr>
          </a:p>
        </p:txBody>
      </p:sp>
      <p:sp>
        <p:nvSpPr>
          <p:cNvPr id="5" name="Marcador de contenido 2">
            <a:extLst>
              <a:ext uri="{FF2B5EF4-FFF2-40B4-BE49-F238E27FC236}">
                <a16:creationId xmlns:a16="http://schemas.microsoft.com/office/drawing/2014/main" id="{8AF24815-66C7-5D74-37EF-093CB262E3C4}"/>
              </a:ext>
            </a:extLst>
          </p:cNvPr>
          <p:cNvSpPr txBox="1">
            <a:spLocks/>
          </p:cNvSpPr>
          <p:nvPr/>
        </p:nvSpPr>
        <p:spPr>
          <a:xfrm>
            <a:off x="969264" y="1253998"/>
            <a:ext cx="7387658" cy="1609467"/>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a:buFont typeface="Wingdings" panose="05000000000000000000" pitchFamily="2" charset="2"/>
              <a:buChar char="§"/>
            </a:pPr>
            <a:r>
              <a:rPr lang="es-ES" sz="1400" b="1" dirty="0">
                <a:latin typeface="Bahnschrift" panose="020B0502040204020203" pitchFamily="34" charset="0"/>
              </a:rPr>
              <a:t>3. El Analista de Seguridad/SOC </a:t>
            </a:r>
          </a:p>
          <a:p>
            <a:pPr marL="0" indent="0" algn="just">
              <a:buFont typeface="Franklin Gothic Book" panose="020B0503020102020204" pitchFamily="34" charset="0"/>
              <a:buNone/>
            </a:pPr>
            <a:r>
              <a:rPr lang="es-ES" sz="1400" b="1" dirty="0">
                <a:latin typeface="Bahnschrift" panose="020B0502040204020203" pitchFamily="34" charset="0"/>
              </a:rPr>
              <a:t>Misión:</a:t>
            </a:r>
            <a:r>
              <a:rPr lang="es-ES" sz="1400" dirty="0">
                <a:latin typeface="Bahnschrift" panose="020B0502040204020203" pitchFamily="34" charset="0"/>
              </a:rPr>
              <a:t> Detectar el uso indebido o la exposición de la criptografía.</a:t>
            </a:r>
          </a:p>
          <a:p>
            <a:pPr marL="0" indent="0" algn="just">
              <a:buFont typeface="Franklin Gothic Book" panose="020B0503020102020204" pitchFamily="34" charset="0"/>
              <a:buNone/>
            </a:pPr>
            <a:r>
              <a:rPr lang="es-ES" sz="1400" b="1" dirty="0">
                <a:latin typeface="Bahnschrift" panose="020B0502040204020203" pitchFamily="34" charset="0"/>
              </a:rPr>
              <a:t>Fallo Común:</a:t>
            </a:r>
            <a:r>
              <a:rPr lang="es-ES" sz="1400" dirty="0">
                <a:latin typeface="Bahnschrift" panose="020B0502040204020203" pitchFamily="34" charset="0"/>
              </a:rPr>
              <a:t> No contar con herramientas de </a:t>
            </a:r>
            <a:r>
              <a:rPr lang="es-ES" sz="1400" b="1" dirty="0" err="1">
                <a:latin typeface="Bahnschrift" panose="020B0502040204020203" pitchFamily="34" charset="0"/>
              </a:rPr>
              <a:t>Secret</a:t>
            </a:r>
            <a:r>
              <a:rPr lang="es-ES" sz="1400" b="1" dirty="0">
                <a:latin typeface="Bahnschrift" panose="020B0502040204020203" pitchFamily="34" charset="0"/>
              </a:rPr>
              <a:t> </a:t>
            </a:r>
            <a:r>
              <a:rPr lang="es-ES" sz="1400" b="1" dirty="0" err="1">
                <a:latin typeface="Bahnschrift" panose="020B0502040204020203" pitchFamily="34" charset="0"/>
              </a:rPr>
              <a:t>Scanning</a:t>
            </a:r>
            <a:r>
              <a:rPr lang="es-ES" sz="1400" dirty="0">
                <a:latin typeface="Bahnschrift" panose="020B0502040204020203" pitchFamily="34" charset="0"/>
              </a:rPr>
              <a:t> que detecten llaves privadas en repositorios antes de que lleguen a producción.</a:t>
            </a:r>
          </a:p>
          <a:p>
            <a:pPr marL="0" indent="0" algn="just">
              <a:buFont typeface="Franklin Gothic Book" panose="020B0503020102020204" pitchFamily="34" charset="0"/>
              <a:buNone/>
            </a:pPr>
            <a:r>
              <a:rPr lang="es-ES" sz="1400" b="1" dirty="0">
                <a:latin typeface="Bahnschrift" panose="020B0502040204020203" pitchFamily="34" charset="0"/>
              </a:rPr>
              <a:t>Buenas Prácticas:</a:t>
            </a:r>
            <a:r>
              <a:rPr lang="es-ES" sz="1400" dirty="0">
                <a:latin typeface="Bahnschrift" panose="020B0502040204020203" pitchFamily="34" charset="0"/>
              </a:rPr>
              <a:t> Monitorear picos de descifrado en la nube y auditar el tráfico SSL.</a:t>
            </a:r>
            <a:endParaRPr lang="es-ES" sz="1400" dirty="0"/>
          </a:p>
        </p:txBody>
      </p:sp>
      <p:sp>
        <p:nvSpPr>
          <p:cNvPr id="6" name="Marcador de contenido 2">
            <a:extLst>
              <a:ext uri="{FF2B5EF4-FFF2-40B4-BE49-F238E27FC236}">
                <a16:creationId xmlns:a16="http://schemas.microsoft.com/office/drawing/2014/main" id="{96BE1A1B-AC0D-9D98-C956-EB255EF6BE89}"/>
              </a:ext>
            </a:extLst>
          </p:cNvPr>
          <p:cNvSpPr txBox="1">
            <a:spLocks/>
          </p:cNvSpPr>
          <p:nvPr/>
        </p:nvSpPr>
        <p:spPr>
          <a:xfrm>
            <a:off x="4431599" y="4102804"/>
            <a:ext cx="7387658" cy="2125645"/>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a:r>
              <a:rPr lang="es-ES" sz="1400" b="1" dirty="0">
                <a:latin typeface="Bahnschrift" panose="020B0502040204020203" pitchFamily="34" charset="0"/>
              </a:rPr>
              <a:t>4. Proveedor de Nube (CSP - AWS/Azure/GCP)</a:t>
            </a:r>
          </a:p>
          <a:p>
            <a:pPr marL="0" indent="0" algn="just">
              <a:buFont typeface="Franklin Gothic Book" panose="020B0503020102020204" pitchFamily="34" charset="0"/>
              <a:buNone/>
            </a:pPr>
            <a:r>
              <a:rPr lang="es-ES" sz="1400" b="1" dirty="0">
                <a:latin typeface="Bahnschrift" panose="020B0502040204020203" pitchFamily="34" charset="0"/>
              </a:rPr>
              <a:t>Misión:</a:t>
            </a:r>
            <a:r>
              <a:rPr lang="es-ES" sz="1400" dirty="0">
                <a:latin typeface="Bahnschrift" panose="020B0502040204020203" pitchFamily="34" charset="0"/>
              </a:rPr>
              <a:t> Garantizar la seguridad de la infraestructura física y los servicios de cifrado (HSM/KMS).</a:t>
            </a:r>
          </a:p>
          <a:p>
            <a:pPr marL="0" indent="0" algn="just">
              <a:buFont typeface="Franklin Gothic Book" panose="020B0503020102020204" pitchFamily="34" charset="0"/>
              <a:buNone/>
            </a:pPr>
            <a:r>
              <a:rPr lang="es-ES" sz="1400" b="1" dirty="0">
                <a:latin typeface="Bahnschrift" panose="020B0502040204020203" pitchFamily="34" charset="0"/>
              </a:rPr>
              <a:t>Responsabilidad:</a:t>
            </a:r>
            <a:r>
              <a:rPr lang="es-ES" sz="1400" dirty="0">
                <a:latin typeface="Bahnschrift" panose="020B0502040204020203" pitchFamily="34" charset="0"/>
              </a:rPr>
              <a:t> Ellos </a:t>
            </a:r>
            <a:r>
              <a:rPr lang="es-ES" sz="1400" dirty="0"/>
              <a:t>aseguran que la "bóveda" sea resistente, pero </a:t>
            </a:r>
            <a:r>
              <a:rPr lang="es-ES" sz="1400" b="1" dirty="0"/>
              <a:t>tú</a:t>
            </a:r>
            <a:r>
              <a:rPr lang="es-ES" sz="1400" dirty="0"/>
              <a:t> eres responsable de quién tiene la llave y qué guardas dentro.</a:t>
            </a:r>
          </a:p>
        </p:txBody>
      </p:sp>
      <p:pic>
        <p:nvPicPr>
          <p:cNvPr id="9218" name="Picture 2" descr="Cómo contactar con un analista de seguridad | Blog oficial de Kaspersky">
            <a:extLst>
              <a:ext uri="{FF2B5EF4-FFF2-40B4-BE49-F238E27FC236}">
                <a16:creationId xmlns:a16="http://schemas.microsoft.com/office/drawing/2014/main" id="{4474F230-A524-CE1F-962E-087D39DC8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0782" y="1217040"/>
            <a:ext cx="2503938" cy="164642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mazon Web Services - Wikipedia, la enciclopedia libre">
            <a:extLst>
              <a:ext uri="{FF2B5EF4-FFF2-40B4-BE49-F238E27FC236}">
                <a16:creationId xmlns:a16="http://schemas.microsoft.com/office/drawing/2014/main" id="{62FDC9C4-58AD-FBF8-03B5-AFCE038DF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0" y="4102804"/>
            <a:ext cx="2201505" cy="147434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C91DEE0-8533-4A32-13C0-0B325B91CF2A}"/>
              </a:ext>
            </a:extLst>
          </p:cNvPr>
          <p:cNvSpPr txBox="1"/>
          <p:nvPr/>
        </p:nvSpPr>
        <p:spPr>
          <a:xfrm>
            <a:off x="11745468" y="6491967"/>
            <a:ext cx="446084" cy="369332"/>
          </a:xfrm>
          <a:prstGeom prst="rect">
            <a:avLst/>
          </a:prstGeom>
          <a:noFill/>
        </p:spPr>
        <p:txBody>
          <a:bodyPr wrap="none" rtlCol="0">
            <a:spAutoFit/>
          </a:bodyPr>
          <a:lstStyle/>
          <a:p>
            <a:pPr>
              <a:spcAft>
                <a:spcPts val="600"/>
              </a:spcAft>
            </a:pPr>
            <a:r>
              <a:rPr lang="es-MX" dirty="0"/>
              <a:t>16</a:t>
            </a:r>
            <a:endParaRPr lang="en-US" dirty="0"/>
          </a:p>
        </p:txBody>
      </p:sp>
    </p:spTree>
    <p:extLst>
      <p:ext uri="{BB962C8B-B14F-4D97-AF65-F5344CB8AC3E}">
        <p14:creationId xmlns:p14="http://schemas.microsoft.com/office/powerpoint/2010/main" val="1332716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BD99D-59D8-6B2D-1CCC-7DC819461D07}"/>
              </a:ext>
            </a:extLst>
          </p:cNvPr>
          <p:cNvSpPr>
            <a:spLocks noGrp="1"/>
          </p:cNvSpPr>
          <p:nvPr>
            <p:ph type="title"/>
          </p:nvPr>
        </p:nvSpPr>
        <p:spPr>
          <a:xfrm>
            <a:off x="4954181" y="685800"/>
            <a:ext cx="6562905" cy="1485900"/>
          </a:xfrm>
        </p:spPr>
        <p:txBody>
          <a:bodyPr>
            <a:normAutofit/>
          </a:bodyPr>
          <a:lstStyle/>
          <a:p>
            <a:r>
              <a:rPr lang="es-MX" b="1">
                <a:latin typeface="Bahnschrift" panose="020B0502040204020203" pitchFamily="34" charset="0"/>
              </a:rPr>
              <a:t>Reflexión </a:t>
            </a:r>
            <a:br>
              <a:rPr lang="es-MX">
                <a:latin typeface="Bahnschrift" panose="020B0502040204020203" pitchFamily="34" charset="0"/>
              </a:rPr>
            </a:br>
            <a:endParaRPr lang="es-MX">
              <a:latin typeface="Bahnschrift" panose="020B0502040204020203" pitchFamily="34" charset="0"/>
            </a:endParaRPr>
          </a:p>
        </p:txBody>
      </p:sp>
      <p:sp>
        <p:nvSpPr>
          <p:cNvPr id="10" name="Rectangle 9">
            <a:extLst>
              <a:ext uri="{FF2B5EF4-FFF2-40B4-BE49-F238E27FC236}">
                <a16:creationId xmlns:a16="http://schemas.microsoft.com/office/drawing/2014/main" id="{6B205BC3-0B06-4EA6-9066-1A0BEC22C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EA445DCA-FABF-E20F-70CD-B891D30C29B6}"/>
              </a:ext>
            </a:extLst>
          </p:cNvPr>
          <p:cNvSpPr>
            <a:spLocks noGrp="1"/>
          </p:cNvSpPr>
          <p:nvPr>
            <p:ph idx="1"/>
          </p:nvPr>
        </p:nvSpPr>
        <p:spPr>
          <a:xfrm>
            <a:off x="4954181" y="2286000"/>
            <a:ext cx="6562905" cy="3581400"/>
          </a:xfrm>
        </p:spPr>
        <p:txBody>
          <a:bodyPr>
            <a:normAutofit/>
          </a:bodyPr>
          <a:lstStyle/>
          <a:p>
            <a:r>
              <a:rPr lang="es-ES" sz="1700" b="1">
                <a:latin typeface="Bahnschrift" panose="020B0502040204020203" pitchFamily="34" charset="0"/>
              </a:rPr>
              <a:t>1. ¿Se pudo evitar desde el diseño?</a:t>
            </a:r>
          </a:p>
          <a:p>
            <a:pPr marL="0" indent="0">
              <a:buNone/>
            </a:pPr>
            <a:r>
              <a:rPr lang="es-ES" sz="1700" b="1">
                <a:latin typeface="Bahnschrift" panose="020B0502040204020203" pitchFamily="34" charset="0"/>
              </a:rPr>
              <a:t>Sí, totalmente.</a:t>
            </a:r>
            <a:r>
              <a:rPr lang="es-ES" sz="1700">
                <a:latin typeface="Bahnschrift" panose="020B0502040204020203" pitchFamily="34" charset="0"/>
              </a:rPr>
              <a:t> La mayoría de las fallas criptográficas no ocurren porque un matemático rompió un algoritmo complejo, sino por decisiones de diseño mal ejecutadas desde el inicio.</a:t>
            </a:r>
          </a:p>
          <a:p>
            <a:pPr marL="0" indent="0">
              <a:buNone/>
            </a:pPr>
            <a:r>
              <a:rPr lang="es-ES" sz="1700" b="1">
                <a:latin typeface="Bahnschrift" panose="020B0502040204020203" pitchFamily="34" charset="0"/>
              </a:rPr>
              <a:t>Falta de Clasificación:</a:t>
            </a:r>
            <a:r>
              <a:rPr lang="es-ES" sz="1700">
                <a:latin typeface="Bahnschrift" panose="020B0502040204020203" pitchFamily="34" charset="0"/>
              </a:rPr>
              <a:t> Muchas fallas nacen porque no se definió qué datos eran sensibles (PII, financieros) antes de construir la arquitectura, lo que lleva a proteger todo a medias o nada en absoluto.</a:t>
            </a:r>
          </a:p>
          <a:p>
            <a:pPr marL="0" indent="0">
              <a:buNone/>
            </a:pPr>
            <a:r>
              <a:rPr lang="es-ES" sz="1700" b="1">
                <a:latin typeface="Bahnschrift" panose="020B0502040204020203" pitchFamily="34" charset="0"/>
              </a:rPr>
              <a:t>Ausencia de Cripto-Agilidad:</a:t>
            </a:r>
            <a:r>
              <a:rPr lang="es-ES" sz="1700">
                <a:latin typeface="Bahnschrift" panose="020B0502040204020203" pitchFamily="34" charset="0"/>
              </a:rPr>
              <a:t> Si el diseño no prevé el cambio de algoritmos (por ejemplo, pasar de RSA a curvas elípticas o cuánticas), el sistema queda "atrapado" en tecnología obsoleta cuando surge una vulnerabilidad.</a:t>
            </a:r>
          </a:p>
        </p:txBody>
      </p:sp>
      <p:sp>
        <p:nvSpPr>
          <p:cNvPr id="4" name="Cloud 3">
            <a:extLst>
              <a:ext uri="{FF2B5EF4-FFF2-40B4-BE49-F238E27FC236}">
                <a16:creationId xmlns:a16="http://schemas.microsoft.com/office/drawing/2014/main" id="{FB02242A-13BF-FD94-1612-65A5D5A525D1}"/>
              </a:ext>
            </a:extLst>
          </p:cNvPr>
          <p:cNvSpPr/>
          <p:nvPr/>
        </p:nvSpPr>
        <p:spPr>
          <a:xfrm>
            <a:off x="1099914" y="2338809"/>
            <a:ext cx="3160105" cy="2180381"/>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1740DDF-6D4C-F285-8362-487C34120EE7}"/>
              </a:ext>
            </a:extLst>
          </p:cNvPr>
          <p:cNvSpPr txBox="1"/>
          <p:nvPr/>
        </p:nvSpPr>
        <p:spPr>
          <a:xfrm>
            <a:off x="11745468" y="6491967"/>
            <a:ext cx="438069" cy="369332"/>
          </a:xfrm>
          <a:prstGeom prst="rect">
            <a:avLst/>
          </a:prstGeom>
          <a:noFill/>
        </p:spPr>
        <p:txBody>
          <a:bodyPr wrap="none" rtlCol="0">
            <a:spAutoFit/>
          </a:bodyPr>
          <a:lstStyle/>
          <a:p>
            <a:pPr>
              <a:spcAft>
                <a:spcPts val="600"/>
              </a:spcAft>
            </a:pPr>
            <a:r>
              <a:rPr lang="es-MX" dirty="0"/>
              <a:t>17</a:t>
            </a:r>
            <a:endParaRPr lang="en-US" dirty="0"/>
          </a:p>
        </p:txBody>
      </p:sp>
    </p:spTree>
    <p:extLst>
      <p:ext uri="{BB962C8B-B14F-4D97-AF65-F5344CB8AC3E}">
        <p14:creationId xmlns:p14="http://schemas.microsoft.com/office/powerpoint/2010/main" val="157586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E47DDA2-7978-6A1C-490C-56B6206160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299FD1-BE5C-C873-1706-259B36F4E71B}"/>
              </a:ext>
            </a:extLst>
          </p:cNvPr>
          <p:cNvSpPr>
            <a:spLocks noGrp="1"/>
          </p:cNvSpPr>
          <p:nvPr>
            <p:ph type="title"/>
          </p:nvPr>
        </p:nvSpPr>
        <p:spPr>
          <a:xfrm>
            <a:off x="4954181" y="685800"/>
            <a:ext cx="6562905" cy="1485900"/>
          </a:xfrm>
        </p:spPr>
        <p:txBody>
          <a:bodyPr>
            <a:normAutofit/>
          </a:bodyPr>
          <a:lstStyle/>
          <a:p>
            <a:r>
              <a:rPr lang="es-MX" b="1">
                <a:latin typeface="Bahnschrift" panose="020B0502040204020203" pitchFamily="34" charset="0"/>
              </a:rPr>
              <a:t>Reflexión </a:t>
            </a:r>
            <a:br>
              <a:rPr lang="es-MX">
                <a:latin typeface="Bahnschrift" panose="020B0502040204020203" pitchFamily="34" charset="0"/>
              </a:rPr>
            </a:br>
            <a:endParaRPr lang="es-MX">
              <a:latin typeface="Bahnschrift" panose="020B0502040204020203" pitchFamily="34" charset="0"/>
            </a:endParaRPr>
          </a:p>
        </p:txBody>
      </p:sp>
      <p:sp>
        <p:nvSpPr>
          <p:cNvPr id="10" name="Rectangle 9">
            <a:extLst>
              <a:ext uri="{FF2B5EF4-FFF2-40B4-BE49-F238E27FC236}">
                <a16:creationId xmlns:a16="http://schemas.microsoft.com/office/drawing/2014/main" id="{6B205BC3-0B06-4EA6-9066-1A0BEC22C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Graphic 6" descr="Fingerprint">
            <a:extLst>
              <a:ext uri="{FF2B5EF4-FFF2-40B4-BE49-F238E27FC236}">
                <a16:creationId xmlns:a16="http://schemas.microsoft.com/office/drawing/2014/main" id="{108114A2-2151-747C-14A3-DA0E8468AA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3562" y="1462103"/>
            <a:ext cx="3613752" cy="3613752"/>
          </a:xfrm>
          <a:prstGeom prst="rect">
            <a:avLst/>
          </a:prstGeom>
        </p:spPr>
      </p:pic>
      <p:sp>
        <p:nvSpPr>
          <p:cNvPr id="3" name="Marcador de contenido 2">
            <a:extLst>
              <a:ext uri="{FF2B5EF4-FFF2-40B4-BE49-F238E27FC236}">
                <a16:creationId xmlns:a16="http://schemas.microsoft.com/office/drawing/2014/main" id="{AADCCA76-5FC2-3AAF-F90D-435C3577DEE4}"/>
              </a:ext>
            </a:extLst>
          </p:cNvPr>
          <p:cNvSpPr>
            <a:spLocks noGrp="1"/>
          </p:cNvSpPr>
          <p:nvPr>
            <p:ph idx="1"/>
          </p:nvPr>
        </p:nvSpPr>
        <p:spPr>
          <a:xfrm>
            <a:off x="4954181" y="2286000"/>
            <a:ext cx="6562905" cy="3581400"/>
          </a:xfrm>
        </p:spPr>
        <p:txBody>
          <a:bodyPr>
            <a:normAutofit/>
          </a:bodyPr>
          <a:lstStyle/>
          <a:p>
            <a:r>
              <a:rPr lang="es-ES" sz="1700" b="1" dirty="0">
                <a:latin typeface="Bahnschrift" panose="020B0502040204020203" pitchFamily="34" charset="0"/>
              </a:rPr>
              <a:t>2. ¿Es un problema técnico o cultural?</a:t>
            </a:r>
          </a:p>
          <a:p>
            <a:pPr marL="0" indent="0">
              <a:buNone/>
            </a:pPr>
            <a:r>
              <a:rPr lang="es-ES" sz="1700" dirty="0">
                <a:latin typeface="Bahnschrift" panose="020B0502040204020203" pitchFamily="34" charset="0"/>
              </a:rPr>
              <a:t>Es un híbrido, pero la balanza suele inclinarse hacia lo </a:t>
            </a:r>
            <a:r>
              <a:rPr lang="es-ES" sz="1700" b="1" dirty="0">
                <a:latin typeface="Bahnschrift" panose="020B0502040204020203" pitchFamily="34" charset="0"/>
              </a:rPr>
              <a:t>cultural</a:t>
            </a:r>
            <a:r>
              <a:rPr lang="es-ES" sz="1700" dirty="0">
                <a:latin typeface="Bahnschrift" panose="020B0502040204020203" pitchFamily="34" charset="0"/>
              </a:rPr>
              <a:t>.</a:t>
            </a:r>
          </a:p>
          <a:p>
            <a:pPr marL="0" indent="0">
              <a:buNone/>
            </a:pPr>
            <a:r>
              <a:rPr lang="es-ES" sz="1700" b="1" dirty="0">
                <a:latin typeface="Bahnschrift" panose="020B0502040204020203" pitchFamily="34" charset="0"/>
              </a:rPr>
              <a:t>Cultural:</a:t>
            </a:r>
            <a:r>
              <a:rPr lang="es-ES" sz="1700" dirty="0">
                <a:latin typeface="Bahnschrift" panose="020B0502040204020203" pitchFamily="34" charset="0"/>
              </a:rPr>
              <a:t> Muchos equipos de desarrollo ven la criptografía como una "caja negra" mágica. Existe la cultura de "si no está roto, no lo toques", lo que permite que protocolos viejos (como TLS 1.0) vivan por años porque no causan errores visibles, aunque sean inseguros. Además, se suele priorizar la velocidad de despliegue sobre la correcta implementación de seguridad.</a:t>
            </a:r>
          </a:p>
          <a:p>
            <a:pPr marL="0" indent="0">
              <a:buNone/>
            </a:pPr>
            <a:r>
              <a:rPr lang="es-ES" sz="1700" b="1" dirty="0">
                <a:latin typeface="Bahnschrift" panose="020B0502040204020203" pitchFamily="34" charset="0"/>
              </a:rPr>
              <a:t>Técnico:</a:t>
            </a:r>
            <a:r>
              <a:rPr lang="es-ES" sz="1700" dirty="0">
                <a:latin typeface="Bahnschrift" panose="020B0502040204020203" pitchFamily="34" charset="0"/>
              </a:rPr>
              <a:t> La complejidad de las arquitecturas modernas (microservicios, nube, </a:t>
            </a:r>
            <a:r>
              <a:rPr lang="es-ES" sz="1700" dirty="0" err="1">
                <a:latin typeface="Bahnschrift" panose="020B0502040204020203" pitchFamily="34" charset="0"/>
              </a:rPr>
              <a:t>APIs</a:t>
            </a:r>
            <a:r>
              <a:rPr lang="es-ES" sz="1700" dirty="0">
                <a:latin typeface="Bahnschrift" panose="020B0502040204020203" pitchFamily="34" charset="0"/>
              </a:rPr>
              <a:t>) hace que sea técnicamente difícil asegurar que un dato no se "filtre" en texto plano en algún punto, como en un log de errores o un caché.</a:t>
            </a:r>
          </a:p>
        </p:txBody>
      </p:sp>
      <p:sp>
        <p:nvSpPr>
          <p:cNvPr id="4" name="TextBox 3">
            <a:extLst>
              <a:ext uri="{FF2B5EF4-FFF2-40B4-BE49-F238E27FC236}">
                <a16:creationId xmlns:a16="http://schemas.microsoft.com/office/drawing/2014/main" id="{5D3D9F63-E43D-0A3E-9188-ED8ABA4E2D54}"/>
              </a:ext>
            </a:extLst>
          </p:cNvPr>
          <p:cNvSpPr txBox="1"/>
          <p:nvPr/>
        </p:nvSpPr>
        <p:spPr>
          <a:xfrm>
            <a:off x="11745468" y="6491967"/>
            <a:ext cx="452368" cy="369332"/>
          </a:xfrm>
          <a:prstGeom prst="rect">
            <a:avLst/>
          </a:prstGeom>
          <a:noFill/>
        </p:spPr>
        <p:txBody>
          <a:bodyPr wrap="none" rtlCol="0">
            <a:spAutoFit/>
          </a:bodyPr>
          <a:lstStyle/>
          <a:p>
            <a:pPr>
              <a:spcAft>
                <a:spcPts val="600"/>
              </a:spcAft>
            </a:pPr>
            <a:r>
              <a:rPr lang="es-MX" dirty="0"/>
              <a:t>18</a:t>
            </a:r>
            <a:endParaRPr lang="en-US" dirty="0"/>
          </a:p>
        </p:txBody>
      </p:sp>
    </p:spTree>
    <p:extLst>
      <p:ext uri="{BB962C8B-B14F-4D97-AF65-F5344CB8AC3E}">
        <p14:creationId xmlns:p14="http://schemas.microsoft.com/office/powerpoint/2010/main" val="707009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B30EF87-EC68-1C60-CA4D-AB5F44337F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3540FE0-04DB-0A94-6741-9AB1F7F2650C}"/>
              </a:ext>
            </a:extLst>
          </p:cNvPr>
          <p:cNvSpPr>
            <a:spLocks noGrp="1"/>
          </p:cNvSpPr>
          <p:nvPr>
            <p:ph type="title"/>
          </p:nvPr>
        </p:nvSpPr>
        <p:spPr>
          <a:xfrm>
            <a:off x="4954181" y="685800"/>
            <a:ext cx="6562905" cy="1485900"/>
          </a:xfrm>
        </p:spPr>
        <p:txBody>
          <a:bodyPr>
            <a:normAutofit/>
          </a:bodyPr>
          <a:lstStyle/>
          <a:p>
            <a:r>
              <a:rPr lang="es-MX" b="1" dirty="0">
                <a:latin typeface="Bahnschrift" panose="020B0502040204020203" pitchFamily="34" charset="0"/>
              </a:rPr>
              <a:t>Reflexión </a:t>
            </a:r>
            <a:br>
              <a:rPr lang="es-MX" dirty="0">
                <a:latin typeface="Bahnschrift" panose="020B0502040204020203" pitchFamily="34" charset="0"/>
              </a:rPr>
            </a:br>
            <a:endParaRPr lang="es-MX" dirty="0">
              <a:latin typeface="Bahnschrift" panose="020B0502040204020203" pitchFamily="34" charset="0"/>
            </a:endParaRPr>
          </a:p>
        </p:txBody>
      </p:sp>
      <p:sp>
        <p:nvSpPr>
          <p:cNvPr id="10" name="Rectangle 9">
            <a:extLst>
              <a:ext uri="{FF2B5EF4-FFF2-40B4-BE49-F238E27FC236}">
                <a16:creationId xmlns:a16="http://schemas.microsoft.com/office/drawing/2014/main" id="{6B205BC3-0B06-4EA6-9066-1A0BEC22C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2146B1E1-A7C2-5BA9-C43F-23A67DED2718}"/>
              </a:ext>
            </a:extLst>
          </p:cNvPr>
          <p:cNvSpPr>
            <a:spLocks noGrp="1"/>
          </p:cNvSpPr>
          <p:nvPr>
            <p:ph idx="1"/>
          </p:nvPr>
        </p:nvSpPr>
        <p:spPr>
          <a:xfrm>
            <a:off x="4954181" y="1898248"/>
            <a:ext cx="6759724" cy="4273952"/>
          </a:xfrm>
        </p:spPr>
        <p:txBody>
          <a:bodyPr>
            <a:normAutofit fontScale="25000" lnSpcReduction="20000"/>
          </a:bodyPr>
          <a:lstStyle/>
          <a:p>
            <a:pPr algn="just"/>
            <a:r>
              <a:rPr lang="es-ES" sz="6800" b="1" dirty="0">
                <a:latin typeface="Bahnschrift" panose="020B0502040204020203" pitchFamily="34" charset="0"/>
              </a:rPr>
              <a:t>3. ¿Por qué sigue apareciendo en el Top 10?</a:t>
            </a:r>
          </a:p>
          <a:p>
            <a:pPr marL="0" indent="0" algn="just">
              <a:buNone/>
            </a:pPr>
            <a:r>
              <a:rPr lang="es-ES" sz="6800" dirty="0">
                <a:latin typeface="Bahnschrift" panose="020B0502040204020203" pitchFamily="34" charset="0"/>
              </a:rPr>
              <a:t>Aunque ha bajado posiciones (del #2 al #4 en 2025), persiste por varias razones críticas:</a:t>
            </a:r>
          </a:p>
          <a:p>
            <a:pPr marL="0" indent="0" algn="just">
              <a:buNone/>
            </a:pPr>
            <a:r>
              <a:rPr lang="es-ES" sz="6800" b="1" dirty="0">
                <a:latin typeface="Bahnschrift" panose="020B0502040204020203" pitchFamily="34" charset="0"/>
              </a:rPr>
              <a:t>Sistemas Legados:</a:t>
            </a:r>
            <a:r>
              <a:rPr lang="es-ES" sz="6800" dirty="0">
                <a:latin typeface="Bahnschrift" panose="020B0502040204020203" pitchFamily="34" charset="0"/>
              </a:rPr>
              <a:t> Las empresas dependen de software antiguo que no soporta estándares modernos, y actualizarlo suele ser costoso o riesgoso para la operación.</a:t>
            </a:r>
          </a:p>
          <a:p>
            <a:pPr marL="0" indent="0" algn="just">
              <a:buNone/>
            </a:pPr>
            <a:r>
              <a:rPr lang="es-ES" sz="6800" b="1" dirty="0">
                <a:latin typeface="Bahnschrift" panose="020B0502040204020203" pitchFamily="34" charset="0"/>
              </a:rPr>
              <a:t>Atajos Operativos:</a:t>
            </a:r>
            <a:r>
              <a:rPr lang="es-ES" sz="6800" dirty="0">
                <a:latin typeface="Bahnschrift" panose="020B0502040204020203" pitchFamily="34" charset="0"/>
              </a:rPr>
              <a:t> Sigue siendo "más fácil" para un programador dejar una llave fija (</a:t>
            </a:r>
            <a:r>
              <a:rPr lang="es-ES" sz="6800" i="1" dirty="0" err="1">
                <a:latin typeface="Bahnschrift" panose="020B0502040204020203" pitchFamily="34" charset="0"/>
              </a:rPr>
              <a:t>hardcoded</a:t>
            </a:r>
            <a:r>
              <a:rPr lang="es-ES" sz="6800" dirty="0">
                <a:latin typeface="Bahnschrift" panose="020B0502040204020203" pitchFamily="34" charset="0"/>
              </a:rPr>
              <a:t>) que implementar una infraestructura de gestión de llaves profesional.</a:t>
            </a:r>
          </a:p>
          <a:p>
            <a:pPr marL="0" indent="0" algn="just">
              <a:buNone/>
            </a:pPr>
            <a:r>
              <a:rPr lang="es-ES" sz="6800" b="1" dirty="0">
                <a:latin typeface="Bahnschrift" panose="020B0502040204020203" pitchFamily="34" charset="0"/>
              </a:rPr>
              <a:t>Expansión de la Superficie:</a:t>
            </a:r>
            <a:r>
              <a:rPr lang="es-ES" sz="6800" dirty="0">
                <a:latin typeface="Bahnschrift" panose="020B0502040204020203" pitchFamily="34" charset="0"/>
              </a:rPr>
              <a:t> El crecimiento masivo de las </a:t>
            </a:r>
            <a:r>
              <a:rPr lang="es-ES" sz="6800" dirty="0" err="1">
                <a:latin typeface="Bahnschrift" panose="020B0502040204020203" pitchFamily="34" charset="0"/>
              </a:rPr>
              <a:t>APIs</a:t>
            </a:r>
            <a:r>
              <a:rPr lang="es-ES" sz="6800" dirty="0">
                <a:latin typeface="Bahnschrift" panose="020B0502040204020203" pitchFamily="34" charset="0"/>
              </a:rPr>
              <a:t> ha multiplicado los lugares donde la criptografía puede fallar (tokens mal firmados, tráfico interno sin cifrar).</a:t>
            </a:r>
          </a:p>
          <a:p>
            <a:pPr marL="0" indent="0" algn="just">
              <a:buNone/>
            </a:pPr>
            <a:r>
              <a:rPr lang="es-ES" sz="6800" b="1" dirty="0">
                <a:latin typeface="Bahnschrift" panose="020B0502040204020203" pitchFamily="34" charset="0"/>
              </a:rPr>
              <a:t>Impacto Devastador:</a:t>
            </a:r>
            <a:r>
              <a:rPr lang="es-ES" sz="6800" dirty="0">
                <a:latin typeface="Bahnschrift" panose="020B0502040204020203" pitchFamily="34" charset="0"/>
              </a:rPr>
              <a:t> Aunque la incidencia estadística parezca baja, cuando falla la criptografía, el impacto suele ser una brecha total de datos, lo que mantiene esta categoría con un nivel de riesgo altísimo.</a:t>
            </a:r>
          </a:p>
          <a:p>
            <a:endParaRPr lang="es-MX" sz="1300" dirty="0"/>
          </a:p>
        </p:txBody>
      </p:sp>
      <p:sp>
        <p:nvSpPr>
          <p:cNvPr id="4" name="Graphic 6" descr="Filter">
            <a:extLst>
              <a:ext uri="{FF2B5EF4-FFF2-40B4-BE49-F238E27FC236}">
                <a16:creationId xmlns:a16="http://schemas.microsoft.com/office/drawing/2014/main" id="{CE0A4E8A-0743-60DE-8DBB-9EB76DC1FD76}"/>
              </a:ext>
            </a:extLst>
          </p:cNvPr>
          <p:cNvSpPr/>
          <p:nvPr/>
        </p:nvSpPr>
        <p:spPr>
          <a:xfrm>
            <a:off x="1550567" y="2336348"/>
            <a:ext cx="2559741" cy="2559741"/>
          </a:xfrm>
          <a:custGeom>
            <a:avLst/>
            <a:gdLst>
              <a:gd name="connsiteX0" fmla="*/ 2559741 w 2559741"/>
              <a:gd name="connsiteY0" fmla="*/ 0 h 2559741"/>
              <a:gd name="connsiteX1" fmla="*/ 0 w 2559741"/>
              <a:gd name="connsiteY1" fmla="*/ 0 h 2559741"/>
              <a:gd name="connsiteX2" fmla="*/ 1129298 w 2559741"/>
              <a:gd name="connsiteY2" fmla="*/ 1129298 h 2559741"/>
              <a:gd name="connsiteX3" fmla="*/ 1129298 w 2559741"/>
              <a:gd name="connsiteY3" fmla="*/ 2258595 h 2559741"/>
              <a:gd name="connsiteX4" fmla="*/ 1129298 w 2559741"/>
              <a:gd name="connsiteY4" fmla="*/ 2559741 h 2559741"/>
              <a:gd name="connsiteX5" fmla="*/ 1430444 w 2559741"/>
              <a:gd name="connsiteY5" fmla="*/ 2258595 h 2559741"/>
              <a:gd name="connsiteX6" fmla="*/ 1430444 w 2559741"/>
              <a:gd name="connsiteY6" fmla="*/ 1129298 h 25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9741" h="2559741">
                <a:moveTo>
                  <a:pt x="2559741" y="0"/>
                </a:moveTo>
                <a:lnTo>
                  <a:pt x="0" y="0"/>
                </a:lnTo>
                <a:lnTo>
                  <a:pt x="1129298" y="1129298"/>
                </a:lnTo>
                <a:lnTo>
                  <a:pt x="1129298" y="2258595"/>
                </a:lnTo>
                <a:lnTo>
                  <a:pt x="1129298" y="2559741"/>
                </a:lnTo>
                <a:lnTo>
                  <a:pt x="1430444" y="2258595"/>
                </a:lnTo>
                <a:lnTo>
                  <a:pt x="1430444" y="1129298"/>
                </a:lnTo>
                <a:close/>
              </a:path>
            </a:pathLst>
          </a:custGeom>
          <a:solidFill>
            <a:schemeClr val="accent1"/>
          </a:solidFill>
          <a:ln w="37604" cap="flat">
            <a:solidFill>
              <a:schemeClr val="accent1"/>
            </a:solidFill>
            <a:prstDash val="solid"/>
            <a:miter/>
          </a:ln>
        </p:spPr>
        <p:txBody>
          <a:bodyPr rtlCol="0" anchor="ctr"/>
          <a:lstStyle/>
          <a:p>
            <a:endParaRPr lang="en-US"/>
          </a:p>
        </p:txBody>
      </p:sp>
      <p:sp>
        <p:nvSpPr>
          <p:cNvPr id="5" name="TextBox 4">
            <a:extLst>
              <a:ext uri="{FF2B5EF4-FFF2-40B4-BE49-F238E27FC236}">
                <a16:creationId xmlns:a16="http://schemas.microsoft.com/office/drawing/2014/main" id="{20ABE30F-3553-1301-3D70-37DEFB44A534}"/>
              </a:ext>
            </a:extLst>
          </p:cNvPr>
          <p:cNvSpPr txBox="1"/>
          <p:nvPr/>
        </p:nvSpPr>
        <p:spPr>
          <a:xfrm>
            <a:off x="11745468" y="6491967"/>
            <a:ext cx="450957" cy="369332"/>
          </a:xfrm>
          <a:prstGeom prst="rect">
            <a:avLst/>
          </a:prstGeom>
          <a:noFill/>
        </p:spPr>
        <p:txBody>
          <a:bodyPr wrap="none" rtlCol="0">
            <a:spAutoFit/>
          </a:bodyPr>
          <a:lstStyle/>
          <a:p>
            <a:pPr>
              <a:spcAft>
                <a:spcPts val="600"/>
              </a:spcAft>
            </a:pPr>
            <a:r>
              <a:rPr lang="es-MX" dirty="0"/>
              <a:t>19</a:t>
            </a:r>
            <a:endParaRPr lang="en-US" dirty="0"/>
          </a:p>
        </p:txBody>
      </p:sp>
    </p:spTree>
    <p:extLst>
      <p:ext uri="{BB962C8B-B14F-4D97-AF65-F5344CB8AC3E}">
        <p14:creationId xmlns:p14="http://schemas.microsoft.com/office/powerpoint/2010/main" val="1615235495"/>
      </p:ext>
    </p:extLst>
  </p:cSld>
  <p:clrMapOvr>
    <a:masterClrMapping/>
  </p:clrMapOvr>
</p:sld>
</file>

<file path=ppt/theme/theme1.xml><?xml version="1.0" encoding="utf-8"?>
<a:theme xmlns:a="http://schemas.openxmlformats.org/drawingml/2006/main" name="Recorte">
  <a:themeElements>
    <a:clrScheme name="Recorte">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Recort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cort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D42EC7C6717C948B4D2EEC9A95D41B6" ma:contentTypeVersion="15" ma:contentTypeDescription="Create a new document." ma:contentTypeScope="" ma:versionID="b819ef61cee00fe4a3d242782d0c9130">
  <xsd:schema xmlns:xsd="http://www.w3.org/2001/XMLSchema" xmlns:xs="http://www.w3.org/2001/XMLSchema" xmlns:p="http://schemas.microsoft.com/office/2006/metadata/properties" xmlns:ns3="815668d7-ab67-41ef-a00b-ea40e3f46497" xmlns:ns4="b60bae8d-7a30-4a38-9d75-1128c08dcd6b" targetNamespace="http://schemas.microsoft.com/office/2006/metadata/properties" ma:root="true" ma:fieldsID="ef7a2734e940be309c79beafab797d17" ns3:_="" ns4:_="">
    <xsd:import namespace="815668d7-ab67-41ef-a00b-ea40e3f46497"/>
    <xsd:import namespace="b60bae8d-7a30-4a38-9d75-1128c08dcd6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SearchProperties" minOccurs="0"/>
                <xsd:element ref="ns4:_activity" minOccurs="0"/>
                <xsd:element ref="ns4:MediaServiceObjectDetectorVersions"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SystemTag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5668d7-ab67-41ef-a00b-ea40e3f464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60bae8d-7a30-4a38-9d75-1128c08dcd6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_activity" ma:index="14" nillable="true" ma:displayName="_activity" ma:hidden="true" ma:internalName="_activity">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60bae8d-7a30-4a38-9d75-1128c08dcd6b" xsi:nil="true"/>
  </documentManagement>
</p:properties>
</file>

<file path=customXml/itemProps1.xml><?xml version="1.0" encoding="utf-8"?>
<ds:datastoreItem xmlns:ds="http://schemas.openxmlformats.org/officeDocument/2006/customXml" ds:itemID="{1786818D-DB19-45E6-B686-0FDACE615C06}">
  <ds:schemaRefs>
    <ds:schemaRef ds:uri="http://schemas.microsoft.com/sharepoint/v3/contenttype/forms"/>
  </ds:schemaRefs>
</ds:datastoreItem>
</file>

<file path=customXml/itemProps2.xml><?xml version="1.0" encoding="utf-8"?>
<ds:datastoreItem xmlns:ds="http://schemas.openxmlformats.org/officeDocument/2006/customXml" ds:itemID="{6B20EE74-6A03-498D-AC3F-BD39643B6879}">
  <ds:schemaRefs>
    <ds:schemaRef ds:uri="815668d7-ab67-41ef-a00b-ea40e3f46497"/>
    <ds:schemaRef ds:uri="b60bae8d-7a30-4a38-9d75-1128c08dcd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4D7AAF6-818B-4FB0-ADAB-3DB7BF627D99}">
  <ds:schemaRefs>
    <ds:schemaRef ds:uri="http://schemas.microsoft.com/office/infopath/2007/PartnerControls"/>
    <ds:schemaRef ds:uri="http://purl.org/dc/terms/"/>
    <ds:schemaRef ds:uri="http://www.w3.org/XML/1998/namespace"/>
    <ds:schemaRef ds:uri="http://purl.org/dc/dcmitype/"/>
    <ds:schemaRef ds:uri="http://schemas.microsoft.com/office/2006/documentManagement/types"/>
    <ds:schemaRef ds:uri="http://schemas.openxmlformats.org/package/2006/metadata/core-properties"/>
    <ds:schemaRef ds:uri="815668d7-ab67-41ef-a00b-ea40e3f46497"/>
    <ds:schemaRef ds:uri="http://purl.org/dc/elements/1.1/"/>
    <ds:schemaRef ds:uri="http://schemas.microsoft.com/office/2006/metadata/properties"/>
    <ds:schemaRef ds:uri="b60bae8d-7a30-4a38-9d75-1128c08dcd6b"/>
  </ds:schemaRefs>
</ds:datastoreItem>
</file>

<file path=docProps/app.xml><?xml version="1.0" encoding="utf-8"?>
<Properties xmlns="http://schemas.openxmlformats.org/officeDocument/2006/extended-properties" xmlns:vt="http://schemas.openxmlformats.org/officeDocument/2006/docPropsVTypes">
  <Template>Recorte</Template>
  <TotalTime>0</TotalTime>
  <Words>2268</Words>
  <Application>Microsoft Office PowerPoint</Application>
  <PresentationFormat>Panorámica</PresentationFormat>
  <Paragraphs>149</Paragraphs>
  <Slides>19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Bahnschrift</vt:lpstr>
      <vt:lpstr>Franklin Gothic Book</vt:lpstr>
      <vt:lpstr>Wingdings</vt:lpstr>
      <vt:lpstr>Recorte</vt:lpstr>
      <vt:lpstr>A04:2025 - Cryptographic Failures</vt:lpstr>
      <vt:lpstr>Descripción técnica</vt:lpstr>
      <vt:lpstr>Características principales</vt:lpstr>
      <vt:lpstr>Vector de Ataque</vt:lpstr>
      <vt:lpstr>Impacto (Crítico / Alto) </vt:lpstr>
      <vt:lpstr>DigiNotar (La "Muerte Digital")</vt:lpstr>
      <vt:lpstr>Mitigación Técnica</vt:lpstr>
      <vt:lpstr>Presentación de PowerPoint</vt:lpstr>
      <vt:lpstr>Buenas practicas </vt:lpstr>
      <vt:lpstr>Herramientas para detectar la vulnerabilidad</vt:lpstr>
      <vt:lpstr>Indicadores de Compromiso (IoC) </vt:lpstr>
      <vt:lpstr>Indicadores de Compromiso (IoC) </vt:lpstr>
      <vt:lpstr>Indicadores de Compromiso (IoC) </vt:lpstr>
      <vt:lpstr>PRACTICA DE WIRESHARK </vt:lpstr>
      <vt:lpstr>Responsabilidad compartida </vt:lpstr>
      <vt:lpstr>Responsabilidad compartida </vt:lpstr>
      <vt:lpstr>Reflexión  </vt:lpstr>
      <vt:lpstr>Reflexión  </vt:lpstr>
      <vt:lpstr>Reflexión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MARCO MOTA HERRERA</dc:creator>
  <cp:lastModifiedBy>Miguel A Espinosa</cp:lastModifiedBy>
  <cp:revision>6</cp:revision>
  <dcterms:created xsi:type="dcterms:W3CDTF">2026-02-18T02:27:25Z</dcterms:created>
  <dcterms:modified xsi:type="dcterms:W3CDTF">2026-10-26T21:07:27Z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0x0101001D42EC7C6717C948B4D2EEC9A95D41B6</vt:lpwstr>
  </property>
</Properties>
</file>